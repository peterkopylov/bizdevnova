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uB13XZ8ysAGOYYH4TIGD8IAPW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Use this slide to frame the market honestly: roleplay is real, but the best public sizing comes from adjacent markets rather than a pure-play line item.</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Precedence Research conversational AI market page (2025 market size USD 19.21B; CAGR 23.24% 2026-2035)</a:t>
            </a:r>
            <a:endParaRPr/>
          </a:p>
          <a:p>
            <a:pPr indent="0" lvl="0" marL="0" rtl="0" algn="l">
              <a:lnSpc>
                <a:spcPct val="100000"/>
              </a:lnSpc>
              <a:spcBef>
                <a:spcPts val="0"/>
              </a:spcBef>
              <a:spcAft>
                <a:spcPts val="0"/>
              </a:spcAft>
              <a:buSzPts val="1400"/>
              <a:buNone/>
            </a:pPr>
            <a:r>
              <a:rPr lang="en-US" sz="1200"/>
              <a:t>- Grand View Research AI in education market page (2024 market size USD 5.88B; CAGR 31.2% 2025-2030)</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The point of this slide is breadth: public incumbent, venture-backed platforms, and sharper specialists all exist already.</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/Users/peter.kopylov/Documents/BizDev/research/2026-04-22-yoodli-competitor-note.md</a:t>
            </a:r>
            <a:endParaRPr/>
          </a:p>
          <a:p>
            <a:pPr indent="0" lvl="0" marL="0" rtl="0" algn="l">
              <a:lnSpc>
                <a:spcPct val="100000"/>
              </a:lnSpc>
              <a:spcBef>
                <a:spcPts val="0"/>
              </a:spcBef>
              <a:spcAft>
                <a:spcPts val="0"/>
              </a:spcAft>
              <a:buSzPts val="1400"/>
              <a:buNone/>
            </a:pPr>
            <a:r>
              <a:rPr lang="en-US" sz="1200"/>
              <a:t>- /Users/peter.kopylov/Documents/BizDev/research/2026-04-22-second-nature-competitor-note.md</a:t>
            </a:r>
            <a:endParaRPr/>
          </a:p>
          <a:p>
            <a:pPr indent="0" lvl="0" marL="0" rtl="0" algn="l">
              <a:lnSpc>
                <a:spcPct val="100000"/>
              </a:lnSpc>
              <a:spcBef>
                <a:spcPts val="0"/>
              </a:spcBef>
              <a:spcAft>
                <a:spcPts val="0"/>
              </a:spcAft>
              <a:buSzPts val="1400"/>
              <a:buNone/>
            </a:pPr>
            <a:r>
              <a:rPr lang="en-US" sz="1200"/>
              <a:t>- /Users/peter.kopylov/Documents/BizDev/research/2026-04-22-skillsoft-caisy-competitor-note.md</a:t>
            </a:r>
            <a:endParaRPr/>
          </a:p>
          <a:p>
            <a:pPr indent="0" lvl="0" marL="0" rtl="0" algn="l">
              <a:lnSpc>
                <a:spcPct val="100000"/>
              </a:lnSpc>
              <a:spcBef>
                <a:spcPts val="0"/>
              </a:spcBef>
              <a:spcAft>
                <a:spcPts val="0"/>
              </a:spcAft>
              <a:buSzPts val="1400"/>
              <a:buNone/>
            </a:pPr>
            <a:r>
              <a:rPr lang="en-US" sz="1200"/>
              <a:t>- /Users/peter.kopylov/Documents/BizDev/research/2026-04-22-virti-competitor-note.md</a:t>
            </a:r>
            <a:endParaRPr/>
          </a:p>
          <a:p>
            <a:pPr indent="0" lvl="0" marL="0" rtl="0" algn="l">
              <a:lnSpc>
                <a:spcPct val="100000"/>
              </a:lnSpc>
              <a:spcBef>
                <a:spcPts val="0"/>
              </a:spcBef>
              <a:spcAft>
                <a:spcPts val="0"/>
              </a:spcAft>
              <a:buSzPts val="1400"/>
              <a:buNone/>
            </a:pPr>
            <a:r>
              <a:rPr lang="en-US" sz="1200"/>
              <a:t>- /Users/peter.kopylov/Documents/BizDev/research/2026-04-22-mursion-competitor-note.md</a:t>
            </a:r>
            <a:endParaRPr/>
          </a:p>
          <a:p>
            <a:pPr indent="0" lvl="0" marL="0" rtl="0" algn="l">
              <a:lnSpc>
                <a:spcPct val="100000"/>
              </a:lnSpc>
              <a:spcBef>
                <a:spcPts val="0"/>
              </a:spcBef>
              <a:spcAft>
                <a:spcPts val="0"/>
              </a:spcAft>
              <a:buSzPts val="1400"/>
              <a:buNone/>
            </a:pPr>
            <a:r>
              <a:rPr lang="en-US" sz="1200"/>
              <a:t>- /Users/peter.kopylov/Documents/BizDev/research/2026-04-22-dialoguetrainer-competitor-note.md</a:t>
            </a:r>
            <a:endParaRPr/>
          </a:p>
        </p:txBody>
      </p:sp>
      <p:sp>
        <p:nvSpPr>
          <p:cNvPr id="35" name="Google Shape;3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is the slide that reframes the category. Competitors are not pitching 'conversation' as the product; they are pitching faster readiness for specific moments.</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/Users/peter.kopylov/Documents/BizDev/research/2026-05-18-most-viable-business-case-for-ai-roleplay-market-entry.md</a:t>
            </a:r>
            <a:endParaRPr/>
          </a:p>
          <a:p>
            <a:pPr indent="0" lvl="0" marL="0" rtl="0" algn="l">
              <a:lnSpc>
                <a:spcPct val="100000"/>
              </a:lnSpc>
              <a:spcBef>
                <a:spcPts val="0"/>
              </a:spcBef>
              <a:spcAft>
                <a:spcPts val="0"/>
              </a:spcAft>
              <a:buSzPts val="1400"/>
              <a:buNone/>
            </a:pPr>
            <a:r>
              <a:rPr lang="en-US" sz="1200"/>
              <a:t>- /Users/peter.kopylov/Documents/BizDev/research/2026-04-22-yoodli-competitor-note.md</a:t>
            </a:r>
            <a:endParaRPr/>
          </a:p>
          <a:p>
            <a:pPr indent="0" lvl="0" marL="0" rtl="0" algn="l">
              <a:lnSpc>
                <a:spcPct val="100000"/>
              </a:lnSpc>
              <a:spcBef>
                <a:spcPts val="0"/>
              </a:spcBef>
              <a:spcAft>
                <a:spcPts val="0"/>
              </a:spcAft>
              <a:buSzPts val="1400"/>
              <a:buNone/>
            </a:pPr>
            <a:r>
              <a:rPr lang="en-US" sz="1200"/>
              <a:t>- /Users/peter.kopylov/Documents/BizDev/research/2026-04-22-second-nature-competitor-note.md</a:t>
            </a:r>
            <a:endParaRPr/>
          </a:p>
          <a:p>
            <a:pPr indent="0" lvl="0" marL="0" rtl="0" algn="l">
              <a:lnSpc>
                <a:spcPct val="100000"/>
              </a:lnSpc>
              <a:spcBef>
                <a:spcPts val="0"/>
              </a:spcBef>
              <a:spcAft>
                <a:spcPts val="0"/>
              </a:spcAft>
              <a:buSzPts val="1400"/>
              <a:buNone/>
            </a:pPr>
            <a:r>
              <a:rPr lang="en-US" sz="1200"/>
              <a:t>- /Users/peter.kopylov/Documents/BizDev/research/2026-04-22-skillsoft-caisy-competitor-note.md</a:t>
            </a:r>
            <a:endParaRPr/>
          </a:p>
          <a:p>
            <a:pPr indent="0" lvl="0" marL="0" rtl="0" algn="l">
              <a:lnSpc>
                <a:spcPct val="100000"/>
              </a:lnSpc>
              <a:spcBef>
                <a:spcPts val="0"/>
              </a:spcBef>
              <a:spcAft>
                <a:spcPts val="0"/>
              </a:spcAft>
              <a:buSzPts val="1400"/>
              <a:buNone/>
            </a:pPr>
            <a:r>
              <a:rPr lang="en-US" sz="1200"/>
              <a:t>- /Users/peter.kopylov/Documents/BizDev/research/2026-04-22-virti-competitor-note.md</a:t>
            </a:r>
            <a:endParaRPr/>
          </a:p>
          <a:p>
            <a:pPr indent="0" lvl="0" marL="0" rtl="0" algn="l">
              <a:lnSpc>
                <a:spcPct val="100000"/>
              </a:lnSpc>
              <a:spcBef>
                <a:spcPts val="0"/>
              </a:spcBef>
              <a:spcAft>
                <a:spcPts val="0"/>
              </a:spcAft>
              <a:buSzPts val="1400"/>
              <a:buNone/>
            </a:pPr>
            <a:r>
              <a:rPr lang="en-US" sz="1200"/>
              <a:t>- /Users/peter.kopylov/Documents/BizDev/research/2026-04-22-mursion-competitor-note.md</a:t>
            </a:r>
            <a:endParaRPr/>
          </a:p>
          <a:p>
            <a:pPr indent="0" lvl="0" marL="0" rtl="0" algn="l">
              <a:lnSpc>
                <a:spcPct val="100000"/>
              </a:lnSpc>
              <a:spcBef>
                <a:spcPts val="0"/>
              </a:spcBef>
              <a:spcAft>
                <a:spcPts val="0"/>
              </a:spcAft>
              <a:buSzPts val="1400"/>
              <a:buNone/>
            </a:pPr>
            <a:r>
              <a:rPr lang="en-US" sz="1200"/>
              <a:t>- /Users/peter.kopylov/Documents/BizDev/research/2026-04-22-dialoguetrainer-competitor-note.md</a:t>
            </a:r>
            <a:endParaRPr/>
          </a:p>
        </p:txBody>
      </p:sp>
      <p:sp>
        <p:nvSpPr>
          <p:cNvPr id="117" name="Google Shape;11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is the minimum credible stack. Any wedge we pursue still sits on top of this workflow.</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/Users/peter.kopylov/Documents/BizDev/research/2026-05-18-critical-features-to-enter-ai-roleplay-market.md</a:t>
            </a:r>
            <a:endParaRPr/>
          </a:p>
          <a:p>
            <a:pPr indent="0" lvl="0" marL="0" rtl="0" algn="l">
              <a:lnSpc>
                <a:spcPct val="100000"/>
              </a:lnSpc>
              <a:spcBef>
                <a:spcPts val="0"/>
              </a:spcBef>
              <a:spcAft>
                <a:spcPts val="0"/>
              </a:spcAft>
              <a:buSzPts val="1400"/>
              <a:buNone/>
            </a:pPr>
            <a:r>
              <a:rPr lang="en-US" sz="1200"/>
              <a:t>- /Users/peter.kopylov/Documents/BizDev/research/2026-05-19-yoodli-screenshot-derived-feature-surface.md</a:t>
            </a:r>
            <a:endParaRPr/>
          </a:p>
        </p:txBody>
      </p:sp>
      <p:sp>
        <p:nvSpPr>
          <p:cNvPr id="142" name="Google Shape;14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Define both wedges clearly before we go deeper, so the rest of the deck can build on common language.</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/Users/peter.kopylov/Documents/BizDev/research/2026-05-18-multi-npc-conversations-as-a-wedge-for-ai-roleplay.md</a:t>
            </a:r>
            <a:endParaRPr/>
          </a:p>
          <a:p>
            <a:pPr indent="0" lvl="0" marL="0" rtl="0" algn="l">
              <a:lnSpc>
                <a:spcPct val="100000"/>
              </a:lnSpc>
              <a:spcBef>
                <a:spcPts val="0"/>
              </a:spcBef>
              <a:spcAft>
                <a:spcPts val="0"/>
              </a:spcAft>
              <a:buSzPts val="1400"/>
              <a:buNone/>
            </a:pPr>
            <a:r>
              <a:rPr lang="en-US" sz="1200"/>
              <a:t>- /Users/peter.kopylov/Documents/BizDev/research/2026-05-19-insight-3d-editor-and-spatial-placement-in-ai-roleplay.md</a:t>
            </a:r>
            <a:endParaRPr/>
          </a:p>
          <a:p>
            <a:pPr indent="0" lvl="0" marL="0" rtl="0" algn="l">
              <a:lnSpc>
                <a:spcPct val="100000"/>
              </a:lnSpc>
              <a:spcBef>
                <a:spcPts val="0"/>
              </a:spcBef>
              <a:spcAft>
                <a:spcPts val="0"/>
              </a:spcAft>
              <a:buSzPts val="1400"/>
              <a:buNone/>
            </a:pPr>
            <a:r>
              <a:rPr lang="en-US" sz="1200"/>
              <a:t>- /Users/peter.kopylov/Documents/BizDev/research/2026-05-19-insight-sales-practice-for-in-store-shopping-by-pairs.md</a:t>
            </a:r>
            <a:endParaRPr/>
          </a:p>
        </p:txBody>
      </p:sp>
      <p:sp>
        <p:nvSpPr>
          <p:cNvPr id="179" name="Google Shape;17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is the core strategic slide for multi-NPC. The orchestrator matters because multiple believable agents need coordination, not just better copy.</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/Users/peter.kopylov/Documents/BizDev/research/2026-05-18-multi-npc-business-cases-and-best-wedge.md</a:t>
            </a:r>
            <a:endParaRPr/>
          </a:p>
          <a:p>
            <a:pPr indent="0" lvl="0" marL="0" rtl="0" algn="l">
              <a:lnSpc>
                <a:spcPct val="100000"/>
              </a:lnSpc>
              <a:spcBef>
                <a:spcPts val="0"/>
              </a:spcBef>
              <a:spcAft>
                <a:spcPts val="0"/>
              </a:spcAft>
              <a:buSzPts val="1400"/>
              <a:buNone/>
            </a:pPr>
            <a:r>
              <a:rPr lang="en-US" sz="1200"/>
              <a:t>- /Users/peter.kopylov/Documents/BizDev/research/2026-04-22-insight-product-mechanics-for-good-multi-agent-roleplay.md</a:t>
            </a:r>
            <a:endParaRPr/>
          </a:p>
          <a:p>
            <a:pPr indent="0" lvl="0" marL="0" rtl="0" algn="l">
              <a:lnSpc>
                <a:spcPct val="100000"/>
              </a:lnSpc>
              <a:spcBef>
                <a:spcPts val="0"/>
              </a:spcBef>
              <a:spcAft>
                <a:spcPts val="0"/>
              </a:spcAft>
              <a:buSzPts val="1400"/>
              <a:buNone/>
            </a:pPr>
            <a:r>
              <a:rPr lang="en-US" sz="1200"/>
              <a:t>- /Users/peter.kopylov/Documents/BizDev/research/2026-05-19-yoodli-screenshot-derived-feature-surface.md</a:t>
            </a:r>
            <a:endParaRPr/>
          </a:p>
          <a:p>
            <a:pPr indent="0" lvl="0" marL="0" rtl="0" algn="l">
              <a:lnSpc>
                <a:spcPct val="100000"/>
              </a:lnSpc>
              <a:spcBef>
                <a:spcPts val="0"/>
              </a:spcBef>
              <a:spcAft>
                <a:spcPts val="0"/>
              </a:spcAft>
              <a:buSzPts val="1400"/>
              <a:buNone/>
            </a:pPr>
            <a:r>
              <a:rPr lang="en-US" sz="1200"/>
              <a:t>- /Users/peter.kopylov/Documents/BizDev/research/2026-04-22-yoodli-competitor-note.md</a:t>
            </a:r>
            <a:endParaRPr/>
          </a:p>
          <a:p>
            <a:pPr indent="0" lvl="0" marL="0" rtl="0" algn="l">
              <a:lnSpc>
                <a:spcPct val="100000"/>
              </a:lnSpc>
              <a:spcBef>
                <a:spcPts val="0"/>
              </a:spcBef>
              <a:spcAft>
                <a:spcPts val="0"/>
              </a:spcAft>
              <a:buSzPts val="1400"/>
              <a:buNone/>
            </a:pPr>
            <a:r>
              <a:rPr lang="en-US" sz="1200"/>
              <a:t>- /Users/peter.kopylov/Documents/BizDev/research/2026-04-22-second-nature-competitor-note.md</a:t>
            </a:r>
            <a:endParaRPr/>
          </a:p>
          <a:p>
            <a:pPr indent="0" lvl="0" marL="0" rtl="0" algn="l">
              <a:lnSpc>
                <a:spcPct val="100000"/>
              </a:lnSpc>
              <a:spcBef>
                <a:spcPts val="0"/>
              </a:spcBef>
              <a:spcAft>
                <a:spcPts val="0"/>
              </a:spcAft>
              <a:buSzPts val="1400"/>
              <a:buNone/>
            </a:pPr>
            <a:r>
              <a:rPr lang="en-US" sz="1200"/>
              <a:t>- /Users/peter.kopylov/Documents/BizDev/research/2026-04-22-mursion-competitor-note.md</a:t>
            </a:r>
            <a:endParaRPr/>
          </a:p>
        </p:txBody>
      </p:sp>
      <p:sp>
        <p:nvSpPr>
          <p:cNvPr id="204" name="Google Shape;20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slide should feel practical. Spatial is not a generic visual upgrade; it matters only when environment and physical context change the interaction quality.</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/Users/peter.kopylov/Documents/BizDev/research/2026-05-19-insight-3d-editor-and-spatial-placement-in-ai-roleplay.md</a:t>
            </a:r>
            <a:endParaRPr/>
          </a:p>
          <a:p>
            <a:pPr indent="0" lvl="0" marL="0" rtl="0" algn="l">
              <a:lnSpc>
                <a:spcPct val="100000"/>
              </a:lnSpc>
              <a:spcBef>
                <a:spcPts val="0"/>
              </a:spcBef>
              <a:spcAft>
                <a:spcPts val="0"/>
              </a:spcAft>
              <a:buSzPts val="1400"/>
              <a:buNone/>
            </a:pPr>
            <a:r>
              <a:rPr lang="en-US" sz="1200"/>
              <a:t>- /Users/peter.kopylov/Documents/BizDev/research/2026-05-19-insight-ar-vr-in-ai-roleplay.md</a:t>
            </a:r>
            <a:endParaRPr/>
          </a:p>
          <a:p>
            <a:pPr indent="0" lvl="0" marL="0" rtl="0" algn="l">
              <a:lnSpc>
                <a:spcPct val="100000"/>
              </a:lnSpc>
              <a:spcBef>
                <a:spcPts val="0"/>
              </a:spcBef>
              <a:spcAft>
                <a:spcPts val="0"/>
              </a:spcAft>
              <a:buSzPts val="1400"/>
              <a:buNone/>
            </a:pPr>
            <a:r>
              <a:rPr lang="en-US" sz="1200"/>
              <a:t>- /Users/peter.kopylov/Documents/BizDev/research/2026-05-19-insight-sales-practice-for-in-store-shopping-by-pairs.md</a:t>
            </a:r>
            <a:endParaRPr/>
          </a:p>
          <a:p>
            <a:pPr indent="0" lvl="0" marL="0" rtl="0" algn="l">
              <a:lnSpc>
                <a:spcPct val="100000"/>
              </a:lnSpc>
              <a:spcBef>
                <a:spcPts val="0"/>
              </a:spcBef>
              <a:spcAft>
                <a:spcPts val="0"/>
              </a:spcAft>
              <a:buSzPts val="1400"/>
              <a:buNone/>
            </a:pPr>
            <a:r>
              <a:rPr lang="en-US" sz="1200"/>
              <a:t>- /Users/peter.kopylov/Documents/BizDev/research/2026-04-22-virti-competitor-note.md</a:t>
            </a:r>
            <a:endParaRPr/>
          </a:p>
          <a:p>
            <a:pPr indent="0" lvl="0" marL="0" rtl="0" algn="l">
              <a:lnSpc>
                <a:spcPct val="100000"/>
              </a:lnSpc>
              <a:spcBef>
                <a:spcPts val="0"/>
              </a:spcBef>
              <a:spcAft>
                <a:spcPts val="0"/>
              </a:spcAft>
              <a:buSzPts val="1400"/>
              <a:buNone/>
            </a:pPr>
            <a:r>
              <a:rPr lang="en-US" sz="1200"/>
              <a:t>- /Users/peter.kopylov/Documents/BizDev/research/2026-04-22-mursion-competitor-note.md</a:t>
            </a:r>
            <a:endParaRPr/>
          </a:p>
        </p:txBody>
      </p:sp>
      <p:sp>
        <p:nvSpPr>
          <p:cNvPr id="233" name="Google Shape;23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is the wedge slide. The combination matters more than either component alone.</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/Users/peter.kopylov/Documents/BizDev/research/2026-05-19-insight-3d-editor-and-spatial-placement-in-ai-roleplay.md</a:t>
            </a:r>
            <a:endParaRPr/>
          </a:p>
          <a:p>
            <a:pPr indent="0" lvl="0" marL="0" rtl="0" algn="l">
              <a:lnSpc>
                <a:spcPct val="100000"/>
              </a:lnSpc>
              <a:spcBef>
                <a:spcPts val="0"/>
              </a:spcBef>
              <a:spcAft>
                <a:spcPts val="0"/>
              </a:spcAft>
              <a:buSzPts val="1400"/>
              <a:buNone/>
            </a:pPr>
            <a:r>
              <a:rPr lang="en-US" sz="1200"/>
              <a:t>- /Users/peter.kopylov/Documents/BizDev/research/2026-05-18-multi-npc-business-cases-and-best-wedge.md</a:t>
            </a:r>
            <a:endParaRPr/>
          </a:p>
          <a:p>
            <a:pPr indent="0" lvl="0" marL="0" rtl="0" algn="l">
              <a:lnSpc>
                <a:spcPct val="100000"/>
              </a:lnSpc>
              <a:spcBef>
                <a:spcPts val="0"/>
              </a:spcBef>
              <a:spcAft>
                <a:spcPts val="0"/>
              </a:spcAft>
              <a:buSzPts val="1400"/>
              <a:buNone/>
            </a:pPr>
            <a:r>
              <a:rPr lang="en-US" sz="1200"/>
              <a:t>- /Users/peter.kopylov/Documents/BizDev/research/2026-05-19-insight-sales-practice-for-in-store-shopping-by-pairs.md</a:t>
            </a:r>
            <a:endParaRPr/>
          </a:p>
          <a:p>
            <a:pPr indent="0" lvl="0" marL="0" rtl="0" algn="l">
              <a:lnSpc>
                <a:spcPct val="100000"/>
              </a:lnSpc>
              <a:spcBef>
                <a:spcPts val="0"/>
              </a:spcBef>
              <a:spcAft>
                <a:spcPts val="0"/>
              </a:spcAft>
              <a:buSzPts val="1400"/>
              <a:buNone/>
            </a:pPr>
            <a:r>
              <a:rPr lang="en-US" sz="1200"/>
              <a:t>- /Users/peter.kopylov/Documents/BizDev/research/2026-04-22-insight-product-mechanics-for-good-multi-agent-roleplay.md</a:t>
            </a:r>
            <a:endParaRPr/>
          </a:p>
        </p:txBody>
      </p:sp>
      <p:sp>
        <p:nvSpPr>
          <p:cNvPr id="266" name="Google Shape;26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Use this slide to separate table stakes from premium differentiators and to call out latency as a real product risk, not a nice-to-have.</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/Users/peter.kopylov/Documents/BizDev/research/2026-05-18-critical-features-to-enter-ai-roleplay-market.md</a:t>
            </a:r>
            <a:endParaRPr/>
          </a:p>
          <a:p>
            <a:pPr indent="0" lvl="0" marL="0" rtl="0" algn="l">
              <a:lnSpc>
                <a:spcPct val="100000"/>
              </a:lnSpc>
              <a:spcBef>
                <a:spcPts val="0"/>
              </a:spcBef>
              <a:spcAft>
                <a:spcPts val="0"/>
              </a:spcAft>
              <a:buSzPts val="1400"/>
              <a:buNone/>
            </a:pPr>
            <a:r>
              <a:rPr lang="en-US" sz="1200"/>
              <a:t>- /Users/peter.kopylov/Documents/BizDev/research/2026-05-19-insight-3d-editor-and-spatial-placement-in-ai-roleplay.md</a:t>
            </a:r>
            <a:endParaRPr/>
          </a:p>
          <a:p>
            <a:pPr indent="0" lvl="0" marL="0" rtl="0" algn="l">
              <a:lnSpc>
                <a:spcPct val="100000"/>
              </a:lnSpc>
              <a:spcBef>
                <a:spcPts val="0"/>
              </a:spcBef>
              <a:spcAft>
                <a:spcPts val="0"/>
              </a:spcAft>
              <a:buSzPts val="1400"/>
              <a:buNone/>
            </a:pPr>
            <a:r>
              <a:rPr lang="en-US" sz="1200"/>
              <a:t>- /Users/peter.kopylov/Documents/BizDev/research/2026-04-22-insight-product-mechanics-for-good-multi-agent-roleplay.md</a:t>
            </a:r>
            <a:endParaRPr/>
          </a:p>
        </p:txBody>
      </p:sp>
      <p:sp>
        <p:nvSpPr>
          <p:cNvPr id="299" name="Google Shape;29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is the product-shape slide. Keep it simple: prompt -&gt; generate -&gt; play -&gt; assess -&gt; retry.</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/Users/peter.kopylov/Documents/BizDev/research/2026-05-18-critical-features-to-enter-ai-roleplay-market.md</a:t>
            </a:r>
            <a:endParaRPr/>
          </a:p>
          <a:p>
            <a:pPr indent="0" lvl="0" marL="0" rtl="0" algn="l">
              <a:lnSpc>
                <a:spcPct val="100000"/>
              </a:lnSpc>
              <a:spcBef>
                <a:spcPts val="0"/>
              </a:spcBef>
              <a:spcAft>
                <a:spcPts val="0"/>
              </a:spcAft>
              <a:buSzPts val="1400"/>
              <a:buNone/>
            </a:pPr>
            <a:r>
              <a:rPr lang="en-US" sz="1200"/>
              <a:t>- /Users/peter.kopylov/Documents/BizDev/research/2026-05-18-multi-npc-business-cases-and-best-wedge.md</a:t>
            </a:r>
            <a:endParaRPr/>
          </a:p>
          <a:p>
            <a:pPr indent="0" lvl="0" marL="0" rtl="0" algn="l">
              <a:lnSpc>
                <a:spcPct val="100000"/>
              </a:lnSpc>
              <a:spcBef>
                <a:spcPts val="0"/>
              </a:spcBef>
              <a:spcAft>
                <a:spcPts val="0"/>
              </a:spcAft>
              <a:buSzPts val="1400"/>
              <a:buNone/>
            </a:pPr>
            <a:r>
              <a:rPr lang="en-US" sz="1200"/>
              <a:t>- /Users/peter.kopylov/Documents/BizDev/research/2026-05-19-insight-3d-editor-and-spatial-placement-in-ai-roleplay.md</a:t>
            </a:r>
            <a:endParaRPr/>
          </a:p>
        </p:txBody>
      </p:sp>
      <p:sp>
        <p:nvSpPr>
          <p:cNvPr id="328" name="Google Shape;32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e35115c04d_0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g3e35115c04d_0_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This is the product-shape slide. Keep it simple: prompt -&gt; generate -&gt; play -&gt; assess -&gt; retry.</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/Users/peter.kopylov/Documents/BizDev/research/2026-05-18-critical-features-to-enter-ai-roleplay-market.md</a:t>
            </a:r>
            <a:endParaRPr/>
          </a:p>
          <a:p>
            <a:pPr indent="0" lvl="0" marL="0" rtl="0" algn="l">
              <a:lnSpc>
                <a:spcPct val="100000"/>
              </a:lnSpc>
              <a:spcBef>
                <a:spcPts val="0"/>
              </a:spcBef>
              <a:spcAft>
                <a:spcPts val="0"/>
              </a:spcAft>
              <a:buSzPts val="1400"/>
              <a:buNone/>
            </a:pPr>
            <a:r>
              <a:rPr lang="en-US" sz="1200"/>
              <a:t>- /Users/peter.kopylov/Documents/BizDev/research/2026-05-18-multi-npc-business-cases-and-best-wedge.md</a:t>
            </a:r>
            <a:endParaRPr/>
          </a:p>
          <a:p>
            <a:pPr indent="0" lvl="0" marL="0" rtl="0" algn="l">
              <a:lnSpc>
                <a:spcPct val="100000"/>
              </a:lnSpc>
              <a:spcBef>
                <a:spcPts val="0"/>
              </a:spcBef>
              <a:spcAft>
                <a:spcPts val="0"/>
              </a:spcAft>
              <a:buSzPts val="1400"/>
              <a:buNone/>
            </a:pPr>
            <a:r>
              <a:rPr lang="en-US" sz="1200"/>
              <a:t>- /Users/peter.kopylov/Documents/BizDev/research/2026-05-19-insight-3d-editor-and-spatial-placement-in-ai-roleplay.md</a:t>
            </a:r>
            <a:endParaRPr/>
          </a:p>
        </p:txBody>
      </p:sp>
      <p:sp>
        <p:nvSpPr>
          <p:cNvPr id="365" name="Google Shape;365;g3e35115c04d_0_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app.yoodli.ai/share/YWFohhkkFQ3R9ujDfeJXA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438150" y="197005"/>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MARKET</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01 / 10</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AI roleplay</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552450" y="2381250"/>
            <a:ext cx="5277000" cy="3645900"/>
          </a:xfrm>
          <a:prstGeom prst="roundRect">
            <a:avLst>
              <a:gd fmla="val 4211" name="adj"/>
            </a:avLst>
          </a:prstGeom>
          <a:solidFill>
            <a:srgbClr val="FFFFFF"/>
          </a:solidFill>
          <a:ln cap="flat" cmpd="sng" w="23025">
            <a:solidFill>
              <a:srgbClr val="111827"/>
            </a:solidFill>
            <a:prstDash val="solid"/>
            <a:round/>
            <a:headEnd len="sm" w="sm" type="none"/>
            <a:tailEnd len="sm" w="sm" type="none"/>
          </a:ln>
        </p:spPr>
        <p:txBody>
          <a:bodyPr anchorCtr="0" anchor="ctr" bIns="184200" lIns="184200" spcFirstLastPara="1" rIns="184200" wrap="square" tIns="184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552450" y="2381250"/>
            <a:ext cx="5277000" cy="153600"/>
          </a:xfrm>
          <a:prstGeom prst="rect">
            <a:avLst/>
          </a:prstGeom>
          <a:solidFill>
            <a:srgbClr val="5A55EA"/>
          </a:solidFill>
          <a:ln cap="flat" cmpd="sng" w="19200">
            <a:solidFill>
              <a:srgbClr val="000000">
                <a:alpha val="0"/>
              </a:srgbClr>
            </a:solidFill>
            <a:prstDash val="solid"/>
            <a:round/>
            <a:headEnd len="sm" w="sm" type="none"/>
            <a:tailEnd len="sm" w="sm" type="none"/>
          </a:ln>
        </p:spPr>
        <p:txBody>
          <a:bodyPr anchorCtr="0" anchor="ctr" bIns="184200" lIns="184200" spcFirstLastPara="1" rIns="184200" wrap="square" tIns="184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974616" y="2841794"/>
            <a:ext cx="4432800" cy="921000"/>
          </a:xfrm>
          <a:prstGeom prst="rect">
            <a:avLst/>
          </a:prstGeom>
          <a:solidFill>
            <a:srgbClr val="000000">
              <a:alpha val="0"/>
            </a:srgbClr>
          </a:solidFill>
          <a:ln cap="flat" cmpd="sng" w="19200">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533"/>
              <a:buFont typeface="Arial"/>
              <a:buNone/>
            </a:pPr>
            <a:r>
              <a:rPr b="1" i="0" lang="en-US" sz="4533" u="none" cap="none" strike="noStrike">
                <a:solidFill>
                  <a:srgbClr val="111827"/>
                </a:solidFill>
                <a:latin typeface="Georgia"/>
                <a:ea typeface="Georgia"/>
                <a:cs typeface="Georgia"/>
                <a:sym typeface="Georgia"/>
              </a:rPr>
              <a:t>$19.2B</a:t>
            </a:r>
            <a:endParaRPr b="0" i="0" sz="2820" u="none" cap="none" strike="noStrike">
              <a:solidFill>
                <a:srgbClr val="000000"/>
              </a:solidFill>
              <a:latin typeface="Arial"/>
              <a:ea typeface="Arial"/>
              <a:cs typeface="Arial"/>
              <a:sym typeface="Arial"/>
            </a:endParaRPr>
          </a:p>
        </p:txBody>
      </p:sp>
      <p:sp>
        <p:nvSpPr>
          <p:cNvPr id="24" name="Google Shape;24;p1"/>
          <p:cNvSpPr/>
          <p:nvPr/>
        </p:nvSpPr>
        <p:spPr>
          <a:xfrm>
            <a:off x="974616" y="3878019"/>
            <a:ext cx="4432800" cy="767700"/>
          </a:xfrm>
          <a:prstGeom prst="rect">
            <a:avLst/>
          </a:prstGeom>
          <a:solidFill>
            <a:srgbClr val="000000">
              <a:alpha val="0"/>
            </a:srgbClr>
          </a:solidFill>
          <a:ln cap="flat" cmpd="sng" w="19200">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18"/>
              <a:buFont typeface="Arial"/>
              <a:buNone/>
            </a:pPr>
            <a:r>
              <a:rPr b="0" i="0" lang="en-US" sz="2418" u="none" cap="none" strike="noStrike">
                <a:solidFill>
                  <a:srgbClr val="111827"/>
                </a:solidFill>
                <a:latin typeface="Arial"/>
                <a:ea typeface="Arial"/>
                <a:cs typeface="Arial"/>
                <a:sym typeface="Arial"/>
              </a:rPr>
              <a:t>Conversational AI market size in 2025</a:t>
            </a:r>
            <a:endParaRPr b="0" i="0" sz="2820" u="none" cap="none" strike="noStrike">
              <a:solidFill>
                <a:srgbClr val="000000"/>
              </a:solidFill>
              <a:latin typeface="Arial"/>
              <a:ea typeface="Arial"/>
              <a:cs typeface="Arial"/>
              <a:sym typeface="Arial"/>
            </a:endParaRPr>
          </a:p>
        </p:txBody>
      </p:sp>
      <p:sp>
        <p:nvSpPr>
          <p:cNvPr id="25" name="Google Shape;25;p1"/>
          <p:cNvSpPr/>
          <p:nvPr/>
        </p:nvSpPr>
        <p:spPr>
          <a:xfrm>
            <a:off x="974616" y="5298030"/>
            <a:ext cx="4432800" cy="422100"/>
          </a:xfrm>
          <a:prstGeom prst="rect">
            <a:avLst/>
          </a:prstGeom>
          <a:solidFill>
            <a:srgbClr val="000000">
              <a:alpha val="0"/>
            </a:srgbClr>
          </a:solidFill>
          <a:ln cap="flat" cmpd="sng" w="19200">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11"/>
              <a:buFont typeface="Arial"/>
              <a:buNone/>
            </a:pPr>
            <a:r>
              <a:rPr b="0" i="0" lang="en-US" sz="1511" u="none" cap="none" strike="noStrike">
                <a:solidFill>
                  <a:srgbClr val="5B6473"/>
                </a:solidFill>
                <a:latin typeface="Arial"/>
                <a:ea typeface="Arial"/>
                <a:cs typeface="Arial"/>
                <a:sym typeface="Arial"/>
              </a:rPr>
              <a:t>Precedence Research</a:t>
            </a:r>
            <a:endParaRPr b="0" i="0" sz="2820" u="none" cap="none" strike="noStrike">
              <a:solidFill>
                <a:srgbClr val="000000"/>
              </a:solidFill>
              <a:latin typeface="Arial"/>
              <a:ea typeface="Arial"/>
              <a:cs typeface="Arial"/>
              <a:sym typeface="Arial"/>
            </a:endParaRPr>
          </a:p>
        </p:txBody>
      </p:sp>
      <p:sp>
        <p:nvSpPr>
          <p:cNvPr id="26" name="Google Shape;26;p1"/>
          <p:cNvSpPr/>
          <p:nvPr/>
        </p:nvSpPr>
        <p:spPr>
          <a:xfrm>
            <a:off x="6270878" y="2381250"/>
            <a:ext cx="5277000" cy="3645900"/>
          </a:xfrm>
          <a:prstGeom prst="roundRect">
            <a:avLst>
              <a:gd fmla="val 4211" name="adj"/>
            </a:avLst>
          </a:prstGeom>
          <a:solidFill>
            <a:srgbClr val="FFFFFF"/>
          </a:solidFill>
          <a:ln cap="flat" cmpd="sng" w="23025">
            <a:solidFill>
              <a:srgbClr val="111827"/>
            </a:solidFill>
            <a:prstDash val="solid"/>
            <a:round/>
            <a:headEnd len="sm" w="sm" type="none"/>
            <a:tailEnd len="sm" w="sm" type="none"/>
          </a:ln>
        </p:spPr>
        <p:txBody>
          <a:bodyPr anchorCtr="0" anchor="ctr" bIns="184200" lIns="184200" spcFirstLastPara="1" rIns="184200" wrap="square" tIns="184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6270878" y="2381250"/>
            <a:ext cx="5277000" cy="153600"/>
          </a:xfrm>
          <a:prstGeom prst="rect">
            <a:avLst/>
          </a:prstGeom>
          <a:solidFill>
            <a:srgbClr val="15B8A6"/>
          </a:solidFill>
          <a:ln cap="flat" cmpd="sng" w="19200">
            <a:solidFill>
              <a:srgbClr val="000000">
                <a:alpha val="0"/>
              </a:srgbClr>
            </a:solidFill>
            <a:prstDash val="solid"/>
            <a:round/>
            <a:headEnd len="sm" w="sm" type="none"/>
            <a:tailEnd len="sm" w="sm" type="none"/>
          </a:ln>
        </p:spPr>
        <p:txBody>
          <a:bodyPr anchorCtr="0" anchor="ctr" bIns="184200" lIns="184200" spcFirstLastPara="1" rIns="184200" wrap="square" tIns="184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6693043" y="2841794"/>
            <a:ext cx="4432800" cy="921000"/>
          </a:xfrm>
          <a:prstGeom prst="rect">
            <a:avLst/>
          </a:prstGeom>
          <a:solidFill>
            <a:srgbClr val="000000">
              <a:alpha val="0"/>
            </a:srgbClr>
          </a:solidFill>
          <a:ln cap="flat" cmpd="sng" w="19200">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533"/>
              <a:buFont typeface="Arial"/>
              <a:buNone/>
            </a:pPr>
            <a:r>
              <a:rPr b="1" i="0" lang="en-US" sz="4533" u="none" cap="none" strike="noStrike">
                <a:solidFill>
                  <a:srgbClr val="111827"/>
                </a:solidFill>
                <a:latin typeface="Georgia"/>
                <a:ea typeface="Georgia"/>
                <a:cs typeface="Georgia"/>
                <a:sym typeface="Georgia"/>
              </a:rPr>
              <a:t>23.2%</a:t>
            </a:r>
            <a:endParaRPr b="0" i="0" sz="2820" u="none" cap="none" strike="noStrike">
              <a:solidFill>
                <a:srgbClr val="000000"/>
              </a:solidFill>
              <a:latin typeface="Arial"/>
              <a:ea typeface="Arial"/>
              <a:cs typeface="Arial"/>
              <a:sym typeface="Arial"/>
            </a:endParaRPr>
          </a:p>
        </p:txBody>
      </p:sp>
      <p:sp>
        <p:nvSpPr>
          <p:cNvPr id="29" name="Google Shape;29;p1"/>
          <p:cNvSpPr/>
          <p:nvPr/>
        </p:nvSpPr>
        <p:spPr>
          <a:xfrm>
            <a:off x="6693043" y="3878019"/>
            <a:ext cx="4432800" cy="767700"/>
          </a:xfrm>
          <a:prstGeom prst="rect">
            <a:avLst/>
          </a:prstGeom>
          <a:solidFill>
            <a:srgbClr val="000000">
              <a:alpha val="0"/>
            </a:srgbClr>
          </a:solidFill>
          <a:ln cap="flat" cmpd="sng" w="19200">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18"/>
              <a:buFont typeface="Arial"/>
              <a:buNone/>
            </a:pPr>
            <a:r>
              <a:rPr b="0" i="0" lang="en-US" sz="2418" u="none" cap="none" strike="noStrike">
                <a:solidFill>
                  <a:srgbClr val="111827"/>
                </a:solidFill>
                <a:latin typeface="Arial"/>
                <a:ea typeface="Arial"/>
                <a:cs typeface="Arial"/>
                <a:sym typeface="Arial"/>
              </a:rPr>
              <a:t>Conversational AI CAGR, 2026-2035</a:t>
            </a:r>
            <a:endParaRPr b="0" i="0" sz="2820" u="none" cap="none" strike="noStrike">
              <a:solidFill>
                <a:srgbClr val="000000"/>
              </a:solidFill>
              <a:latin typeface="Arial"/>
              <a:ea typeface="Arial"/>
              <a:cs typeface="Arial"/>
              <a:sym typeface="Arial"/>
            </a:endParaRPr>
          </a:p>
        </p:txBody>
      </p:sp>
      <p:sp>
        <p:nvSpPr>
          <p:cNvPr id="30" name="Google Shape;30;p1"/>
          <p:cNvSpPr/>
          <p:nvPr/>
        </p:nvSpPr>
        <p:spPr>
          <a:xfrm>
            <a:off x="6693043" y="5298030"/>
            <a:ext cx="4432800" cy="422100"/>
          </a:xfrm>
          <a:prstGeom prst="rect">
            <a:avLst/>
          </a:prstGeom>
          <a:solidFill>
            <a:srgbClr val="000000">
              <a:alpha val="0"/>
            </a:srgbClr>
          </a:solidFill>
          <a:ln cap="flat" cmpd="sng" w="19200">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11"/>
              <a:buFont typeface="Arial"/>
              <a:buNone/>
            </a:pPr>
            <a:r>
              <a:rPr b="0" i="0" lang="en-US" sz="1511" u="none" cap="none" strike="noStrike">
                <a:solidFill>
                  <a:srgbClr val="5B6473"/>
                </a:solidFill>
                <a:latin typeface="Arial"/>
                <a:ea typeface="Arial"/>
                <a:cs typeface="Arial"/>
                <a:sym typeface="Arial"/>
              </a:rPr>
              <a:t>Precedence Research</a:t>
            </a:r>
            <a:endParaRPr b="0" i="0" sz="2820" u="none" cap="none" strike="noStrike">
              <a:solidFill>
                <a:srgbClr val="000000"/>
              </a:solidFill>
              <a:latin typeface="Arial"/>
              <a:ea typeface="Arial"/>
              <a:cs typeface="Arial"/>
              <a:sym typeface="Arial"/>
            </a:endParaRPr>
          </a:p>
        </p:txBody>
      </p:sp>
      <p:sp>
        <p:nvSpPr>
          <p:cNvPr id="31" name="Google Shape;31;p1"/>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2"/>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 name="Google Shape;38;p2"/>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p2"/>
          <p:cNvSpPr/>
          <p:nvPr/>
        </p:nvSpPr>
        <p:spPr>
          <a:xfrm>
            <a:off x="438150" y="197005"/>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COMPETITORS</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02 / 10</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 name="Google Shape;42;p2"/>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Key competitors span public incumbents, venture-backed platforms, and focused specialists</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User counts are public only where disclosed; otherwise we use the strongest public adoption signal we found.</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438150" y="2209800"/>
            <a:ext cx="1798320" cy="6477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p2"/>
          <p:cNvSpPr/>
          <p:nvPr/>
        </p:nvSpPr>
        <p:spPr>
          <a:xfrm>
            <a:off x="533400" y="2305050"/>
            <a:ext cx="160782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Arial"/>
                <a:ea typeface="Arial"/>
                <a:cs typeface="Arial"/>
                <a:sym typeface="Arial"/>
              </a:rPr>
              <a:t>Competitor</a:t>
            </a:r>
            <a:endParaRPr b="0" i="0" sz="1800" u="none" cap="none" strike="noStrike">
              <a:solidFill>
                <a:srgbClr val="000000"/>
              </a:solidFill>
              <a:latin typeface="Arial"/>
              <a:ea typeface="Arial"/>
              <a:cs typeface="Arial"/>
              <a:sym typeface="Arial"/>
            </a:endParaRPr>
          </a:p>
        </p:txBody>
      </p:sp>
      <p:sp>
        <p:nvSpPr>
          <p:cNvPr id="46" name="Google Shape;46;p2"/>
          <p:cNvSpPr/>
          <p:nvPr/>
        </p:nvSpPr>
        <p:spPr>
          <a:xfrm>
            <a:off x="2236470" y="2209800"/>
            <a:ext cx="1123950" cy="6477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 name="Google Shape;47;p2"/>
          <p:cNvSpPr/>
          <p:nvPr/>
        </p:nvSpPr>
        <p:spPr>
          <a:xfrm>
            <a:off x="2331720" y="2305050"/>
            <a:ext cx="93345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Arial"/>
                <a:ea typeface="Arial"/>
                <a:cs typeface="Arial"/>
                <a:sym typeface="Arial"/>
              </a:rPr>
              <a:t>Founded</a:t>
            </a:r>
            <a:endParaRPr b="0" i="0" sz="1800" u="none" cap="none" strike="noStrike">
              <a:solidFill>
                <a:srgbClr val="000000"/>
              </a:solidFill>
              <a:latin typeface="Arial"/>
              <a:ea typeface="Arial"/>
              <a:cs typeface="Arial"/>
              <a:sym typeface="Arial"/>
            </a:endParaRPr>
          </a:p>
        </p:txBody>
      </p:sp>
      <p:sp>
        <p:nvSpPr>
          <p:cNvPr id="48" name="Google Shape;48;p2"/>
          <p:cNvSpPr/>
          <p:nvPr/>
        </p:nvSpPr>
        <p:spPr>
          <a:xfrm>
            <a:off x="3360420" y="2209800"/>
            <a:ext cx="2023110" cy="6477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 name="Google Shape;49;p2"/>
          <p:cNvSpPr/>
          <p:nvPr/>
        </p:nvSpPr>
        <p:spPr>
          <a:xfrm>
            <a:off x="3455670" y="2305050"/>
            <a:ext cx="183261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Arial"/>
                <a:ea typeface="Arial"/>
                <a:cs typeface="Arial"/>
                <a:sym typeface="Arial"/>
              </a:rPr>
              <a:t>Users / adoption</a:t>
            </a:r>
            <a:endParaRPr b="0" i="0" sz="1800" u="none" cap="none" strike="noStrike">
              <a:solidFill>
                <a:srgbClr val="000000"/>
              </a:solidFill>
              <a:latin typeface="Arial"/>
              <a:ea typeface="Arial"/>
              <a:cs typeface="Arial"/>
              <a:sym typeface="Arial"/>
            </a:endParaRPr>
          </a:p>
        </p:txBody>
      </p:sp>
      <p:sp>
        <p:nvSpPr>
          <p:cNvPr id="50" name="Google Shape;50;p2"/>
          <p:cNvSpPr/>
          <p:nvPr/>
        </p:nvSpPr>
        <p:spPr>
          <a:xfrm>
            <a:off x="5383530" y="2209800"/>
            <a:ext cx="1798320" cy="6477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p2"/>
          <p:cNvSpPr/>
          <p:nvPr/>
        </p:nvSpPr>
        <p:spPr>
          <a:xfrm>
            <a:off x="5478780" y="2305050"/>
            <a:ext cx="160782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Arial"/>
                <a:ea typeface="Arial"/>
                <a:cs typeface="Arial"/>
                <a:sym typeface="Arial"/>
              </a:rPr>
              <a:t>Funding stage</a:t>
            </a:r>
            <a:endParaRPr b="0" i="0" sz="1800" u="none" cap="none" strike="noStrike">
              <a:solidFill>
                <a:srgbClr val="000000"/>
              </a:solidFill>
              <a:latin typeface="Arial"/>
              <a:ea typeface="Arial"/>
              <a:cs typeface="Arial"/>
              <a:sym typeface="Arial"/>
            </a:endParaRPr>
          </a:p>
        </p:txBody>
      </p:sp>
      <p:sp>
        <p:nvSpPr>
          <p:cNvPr id="52" name="Google Shape;52;p2"/>
          <p:cNvSpPr/>
          <p:nvPr/>
        </p:nvSpPr>
        <p:spPr>
          <a:xfrm>
            <a:off x="7181850" y="2209800"/>
            <a:ext cx="4495800" cy="6477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 name="Google Shape;53;p2"/>
          <p:cNvSpPr/>
          <p:nvPr/>
        </p:nvSpPr>
        <p:spPr>
          <a:xfrm>
            <a:off x="7277100" y="2305050"/>
            <a:ext cx="43053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Arial"/>
                <a:ea typeface="Arial"/>
                <a:cs typeface="Arial"/>
                <a:sym typeface="Arial"/>
              </a:rPr>
              <a:t>Hero description</a:t>
            </a:r>
            <a:endParaRPr b="0" i="0" sz="1800" u="none" cap="none" strike="noStrike">
              <a:solidFill>
                <a:srgbClr val="000000"/>
              </a:solidFill>
              <a:latin typeface="Arial"/>
              <a:ea typeface="Arial"/>
              <a:cs typeface="Arial"/>
              <a:sym typeface="Arial"/>
            </a:endParaRPr>
          </a:p>
        </p:txBody>
      </p:sp>
      <p:sp>
        <p:nvSpPr>
          <p:cNvPr id="54" name="Google Shape;54;p2"/>
          <p:cNvSpPr/>
          <p:nvPr/>
        </p:nvSpPr>
        <p:spPr>
          <a:xfrm>
            <a:off x="438150" y="2857500"/>
            <a:ext cx="179832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 name="Google Shape;55;p2"/>
          <p:cNvSpPr/>
          <p:nvPr/>
        </p:nvSpPr>
        <p:spPr>
          <a:xfrm>
            <a:off x="533400" y="29337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sng" cap="none" strike="noStrike">
                <a:solidFill>
                  <a:schemeClr val="hlink"/>
                </a:solidFill>
                <a:latin typeface="Arial"/>
                <a:ea typeface="Arial"/>
                <a:cs typeface="Arial"/>
                <a:sym typeface="Arial"/>
                <a:hlinkClick r:id="rId3"/>
              </a:rPr>
              <a:t>Yoodli</a:t>
            </a:r>
            <a:endParaRPr b="0" i="0" sz="1800" u="none" cap="none" strike="noStrike">
              <a:solidFill>
                <a:srgbClr val="000000"/>
              </a:solidFill>
              <a:latin typeface="Arial"/>
              <a:ea typeface="Arial"/>
              <a:cs typeface="Arial"/>
              <a:sym typeface="Arial"/>
            </a:endParaRPr>
          </a:p>
        </p:txBody>
      </p:sp>
      <p:sp>
        <p:nvSpPr>
          <p:cNvPr id="56" name="Google Shape;56;p2"/>
          <p:cNvSpPr/>
          <p:nvPr/>
        </p:nvSpPr>
        <p:spPr>
          <a:xfrm>
            <a:off x="2236470" y="2857500"/>
            <a:ext cx="112395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 name="Google Shape;57;p2"/>
          <p:cNvSpPr/>
          <p:nvPr/>
        </p:nvSpPr>
        <p:spPr>
          <a:xfrm>
            <a:off x="2331720" y="2933700"/>
            <a:ext cx="93345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2021</a:t>
            </a:r>
            <a:endParaRPr b="0" i="0" sz="1800" u="none" cap="none" strike="noStrike">
              <a:solidFill>
                <a:srgbClr val="000000"/>
              </a:solidFill>
              <a:latin typeface="Arial"/>
              <a:ea typeface="Arial"/>
              <a:cs typeface="Arial"/>
              <a:sym typeface="Arial"/>
            </a:endParaRPr>
          </a:p>
        </p:txBody>
      </p:sp>
      <p:sp>
        <p:nvSpPr>
          <p:cNvPr id="58" name="Google Shape;58;p2"/>
          <p:cNvSpPr/>
          <p:nvPr/>
        </p:nvSpPr>
        <p:spPr>
          <a:xfrm>
            <a:off x="3360420" y="2857500"/>
            <a:ext cx="202311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2"/>
          <p:cNvSpPr/>
          <p:nvPr/>
        </p:nvSpPr>
        <p:spPr>
          <a:xfrm>
            <a:off x="3455670" y="2933700"/>
            <a:ext cx="183261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n/d public total</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15k+ employee rollout signal</a:t>
            </a:r>
            <a:endParaRPr b="0" i="0" sz="1800" u="none" cap="none" strike="noStrike">
              <a:solidFill>
                <a:srgbClr val="000000"/>
              </a:solidFill>
              <a:latin typeface="Arial"/>
              <a:ea typeface="Arial"/>
              <a:cs typeface="Arial"/>
              <a:sym typeface="Arial"/>
            </a:endParaRPr>
          </a:p>
        </p:txBody>
      </p:sp>
      <p:sp>
        <p:nvSpPr>
          <p:cNvPr id="60" name="Google Shape;60;p2"/>
          <p:cNvSpPr/>
          <p:nvPr/>
        </p:nvSpPr>
        <p:spPr>
          <a:xfrm>
            <a:off x="5383530" y="2857500"/>
            <a:ext cx="179832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 name="Google Shape;61;p2"/>
          <p:cNvSpPr/>
          <p:nvPr/>
        </p:nvSpPr>
        <p:spPr>
          <a:xfrm>
            <a:off x="5478780" y="29337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Series B</a:t>
            </a:r>
            <a:endParaRPr b="0" i="0" sz="1800" u="none" cap="none" strike="noStrike">
              <a:solidFill>
                <a:srgbClr val="000000"/>
              </a:solidFill>
              <a:latin typeface="Arial"/>
              <a:ea typeface="Arial"/>
              <a:cs typeface="Arial"/>
              <a:sym typeface="Arial"/>
            </a:endParaRPr>
          </a:p>
        </p:txBody>
      </p:sp>
      <p:sp>
        <p:nvSpPr>
          <p:cNvPr id="62" name="Google Shape;62;p2"/>
          <p:cNvSpPr/>
          <p:nvPr/>
        </p:nvSpPr>
        <p:spPr>
          <a:xfrm>
            <a:off x="7181850" y="2857500"/>
            <a:ext cx="449580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 name="Google Shape;63;p2"/>
          <p:cNvSpPr/>
          <p:nvPr/>
        </p:nvSpPr>
        <p:spPr>
          <a:xfrm>
            <a:off x="7277100" y="2933700"/>
            <a:ext cx="430530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5"/>
              <a:buFont typeface="Arial"/>
              <a:buNone/>
            </a:pPr>
            <a:r>
              <a:rPr b="0" i="0" lang="en-US" sz="1225" u="none" cap="none" strike="noStrike">
                <a:solidFill>
                  <a:srgbClr val="111827"/>
                </a:solidFill>
                <a:latin typeface="Arial"/>
                <a:ea typeface="Arial"/>
                <a:cs typeface="Arial"/>
                <a:sym typeface="Arial"/>
              </a:rPr>
              <a:t>Communication coaching + AI roleplays</a:t>
            </a:r>
            <a:endParaRPr b="0" i="0" sz="1800" u="none" cap="none" strike="noStrike">
              <a:solidFill>
                <a:srgbClr val="000000"/>
              </a:solidFill>
              <a:latin typeface="Arial"/>
              <a:ea typeface="Arial"/>
              <a:cs typeface="Arial"/>
              <a:sym typeface="Arial"/>
            </a:endParaRPr>
          </a:p>
        </p:txBody>
      </p:sp>
      <p:sp>
        <p:nvSpPr>
          <p:cNvPr id="64" name="Google Shape;64;p2"/>
          <p:cNvSpPr/>
          <p:nvPr/>
        </p:nvSpPr>
        <p:spPr>
          <a:xfrm>
            <a:off x="438150" y="3505200"/>
            <a:ext cx="179832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2"/>
          <p:cNvSpPr/>
          <p:nvPr/>
        </p:nvSpPr>
        <p:spPr>
          <a:xfrm>
            <a:off x="533400" y="35814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Second Nature</a:t>
            </a:r>
            <a:endParaRPr b="0" i="0" sz="1800" u="none" cap="none" strike="noStrike">
              <a:solidFill>
                <a:srgbClr val="000000"/>
              </a:solidFill>
              <a:latin typeface="Arial"/>
              <a:ea typeface="Arial"/>
              <a:cs typeface="Arial"/>
              <a:sym typeface="Arial"/>
            </a:endParaRPr>
          </a:p>
        </p:txBody>
      </p:sp>
      <p:sp>
        <p:nvSpPr>
          <p:cNvPr id="66" name="Google Shape;66;p2"/>
          <p:cNvSpPr/>
          <p:nvPr/>
        </p:nvSpPr>
        <p:spPr>
          <a:xfrm>
            <a:off x="2236470" y="3505200"/>
            <a:ext cx="112395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 name="Google Shape;67;p2"/>
          <p:cNvSpPr/>
          <p:nvPr/>
        </p:nvSpPr>
        <p:spPr>
          <a:xfrm>
            <a:off x="2331720" y="3581400"/>
            <a:ext cx="93345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2018</a:t>
            </a:r>
            <a:endParaRPr b="0" i="0" sz="1800" u="none" cap="none" strike="noStrike">
              <a:solidFill>
                <a:srgbClr val="000000"/>
              </a:solidFill>
              <a:latin typeface="Arial"/>
              <a:ea typeface="Arial"/>
              <a:cs typeface="Arial"/>
              <a:sym typeface="Arial"/>
            </a:endParaRPr>
          </a:p>
        </p:txBody>
      </p:sp>
      <p:sp>
        <p:nvSpPr>
          <p:cNvPr id="68" name="Google Shape;68;p2"/>
          <p:cNvSpPr/>
          <p:nvPr/>
        </p:nvSpPr>
        <p:spPr>
          <a:xfrm>
            <a:off x="3360420" y="3505200"/>
            <a:ext cx="202311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 name="Google Shape;69;p2"/>
          <p:cNvSpPr/>
          <p:nvPr/>
        </p:nvSpPr>
        <p:spPr>
          <a:xfrm>
            <a:off x="3455670" y="3581400"/>
            <a:ext cx="183261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n/d public total</a:t>
            </a:r>
            <a:endParaRPr b="0" i="0" sz="1800" u="none" cap="none" strike="noStrike">
              <a:solidFill>
                <a:srgbClr val="000000"/>
              </a:solidFill>
              <a:latin typeface="Arial"/>
              <a:ea typeface="Arial"/>
              <a:cs typeface="Arial"/>
              <a:sym typeface="Arial"/>
            </a:endParaRPr>
          </a:p>
        </p:txBody>
      </p:sp>
      <p:sp>
        <p:nvSpPr>
          <p:cNvPr id="70" name="Google Shape;70;p2"/>
          <p:cNvSpPr/>
          <p:nvPr/>
        </p:nvSpPr>
        <p:spPr>
          <a:xfrm>
            <a:off x="5383530" y="3505200"/>
            <a:ext cx="179832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p2"/>
          <p:cNvSpPr/>
          <p:nvPr/>
        </p:nvSpPr>
        <p:spPr>
          <a:xfrm>
            <a:off x="5478780" y="35814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Series B</a:t>
            </a:r>
            <a:endParaRPr b="0" i="0" sz="1800" u="none" cap="none" strike="noStrike">
              <a:solidFill>
                <a:srgbClr val="000000"/>
              </a:solidFill>
              <a:latin typeface="Arial"/>
              <a:ea typeface="Arial"/>
              <a:cs typeface="Arial"/>
              <a:sym typeface="Arial"/>
            </a:endParaRPr>
          </a:p>
        </p:txBody>
      </p:sp>
      <p:sp>
        <p:nvSpPr>
          <p:cNvPr id="72" name="Google Shape;72;p2"/>
          <p:cNvSpPr/>
          <p:nvPr/>
        </p:nvSpPr>
        <p:spPr>
          <a:xfrm>
            <a:off x="7181850" y="3505200"/>
            <a:ext cx="449580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2"/>
          <p:cNvSpPr/>
          <p:nvPr/>
        </p:nvSpPr>
        <p:spPr>
          <a:xfrm>
            <a:off x="7277100" y="3581400"/>
            <a:ext cx="430530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5"/>
              <a:buFont typeface="Arial"/>
              <a:buNone/>
            </a:pPr>
            <a:r>
              <a:rPr b="0" i="0" lang="en-US" sz="1225" u="none" cap="none" strike="noStrike">
                <a:solidFill>
                  <a:srgbClr val="111827"/>
                </a:solidFill>
                <a:latin typeface="Arial"/>
                <a:ea typeface="Arial"/>
                <a:cs typeface="Arial"/>
                <a:sym typeface="Arial"/>
              </a:rPr>
              <a:t>Customer-facing roleplay training</a:t>
            </a:r>
            <a:endParaRPr b="0" i="0" sz="1800" u="none" cap="none" strike="noStrike">
              <a:solidFill>
                <a:srgbClr val="000000"/>
              </a:solidFill>
              <a:latin typeface="Arial"/>
              <a:ea typeface="Arial"/>
              <a:cs typeface="Arial"/>
              <a:sym typeface="Arial"/>
            </a:endParaRPr>
          </a:p>
        </p:txBody>
      </p:sp>
      <p:sp>
        <p:nvSpPr>
          <p:cNvPr id="74" name="Google Shape;74;p2"/>
          <p:cNvSpPr/>
          <p:nvPr/>
        </p:nvSpPr>
        <p:spPr>
          <a:xfrm>
            <a:off x="438150" y="4152900"/>
            <a:ext cx="179832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 name="Google Shape;75;p2"/>
          <p:cNvSpPr/>
          <p:nvPr/>
        </p:nvSpPr>
        <p:spPr>
          <a:xfrm>
            <a:off x="533400" y="42291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Skillsoft CAISY</a:t>
            </a:r>
            <a:endParaRPr b="0" i="0" sz="1800" u="none" cap="none" strike="noStrike">
              <a:solidFill>
                <a:srgbClr val="000000"/>
              </a:solidFill>
              <a:latin typeface="Arial"/>
              <a:ea typeface="Arial"/>
              <a:cs typeface="Arial"/>
              <a:sym typeface="Arial"/>
            </a:endParaRPr>
          </a:p>
        </p:txBody>
      </p:sp>
      <p:sp>
        <p:nvSpPr>
          <p:cNvPr id="76" name="Google Shape;76;p2"/>
          <p:cNvSpPr/>
          <p:nvPr/>
        </p:nvSpPr>
        <p:spPr>
          <a:xfrm>
            <a:off x="2236470" y="4152900"/>
            <a:ext cx="112395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p2"/>
          <p:cNvSpPr/>
          <p:nvPr/>
        </p:nvSpPr>
        <p:spPr>
          <a:xfrm>
            <a:off x="2331720" y="4229100"/>
            <a:ext cx="93345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1998</a:t>
            </a:r>
            <a:endParaRPr b="0" i="0" sz="1800" u="none" cap="none" strike="noStrike">
              <a:solidFill>
                <a:srgbClr val="000000"/>
              </a:solidFill>
              <a:latin typeface="Arial"/>
              <a:ea typeface="Arial"/>
              <a:cs typeface="Arial"/>
              <a:sym typeface="Arial"/>
            </a:endParaRPr>
          </a:p>
        </p:txBody>
      </p:sp>
      <p:sp>
        <p:nvSpPr>
          <p:cNvPr id="78" name="Google Shape;78;p2"/>
          <p:cNvSpPr/>
          <p:nvPr/>
        </p:nvSpPr>
        <p:spPr>
          <a:xfrm>
            <a:off x="3360420" y="4152900"/>
            <a:ext cx="202311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 name="Google Shape;79;p2"/>
          <p:cNvSpPr/>
          <p:nvPr/>
        </p:nvSpPr>
        <p:spPr>
          <a:xfrm>
            <a:off x="3455670" y="4229100"/>
            <a:ext cx="183261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105M+ learners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(parent company)</a:t>
            </a:r>
            <a:endParaRPr b="0" i="0" sz="1800" u="none" cap="none" strike="noStrike">
              <a:solidFill>
                <a:srgbClr val="000000"/>
              </a:solidFill>
              <a:latin typeface="Arial"/>
              <a:ea typeface="Arial"/>
              <a:cs typeface="Arial"/>
              <a:sym typeface="Arial"/>
            </a:endParaRPr>
          </a:p>
        </p:txBody>
      </p:sp>
      <p:sp>
        <p:nvSpPr>
          <p:cNvPr id="80" name="Google Shape;80;p2"/>
          <p:cNvSpPr/>
          <p:nvPr/>
        </p:nvSpPr>
        <p:spPr>
          <a:xfrm>
            <a:off x="5383530" y="4152900"/>
            <a:ext cx="179832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 name="Google Shape;81;p2"/>
          <p:cNvSpPr/>
          <p:nvPr/>
        </p:nvSpPr>
        <p:spPr>
          <a:xfrm>
            <a:off x="5478780" y="42291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Public</a:t>
            </a:r>
            <a:endParaRPr b="0" i="0" sz="1800" u="none" cap="none" strike="noStrike">
              <a:solidFill>
                <a:srgbClr val="000000"/>
              </a:solidFill>
              <a:latin typeface="Arial"/>
              <a:ea typeface="Arial"/>
              <a:cs typeface="Arial"/>
              <a:sym typeface="Arial"/>
            </a:endParaRPr>
          </a:p>
        </p:txBody>
      </p:sp>
      <p:sp>
        <p:nvSpPr>
          <p:cNvPr id="82" name="Google Shape;82;p2"/>
          <p:cNvSpPr/>
          <p:nvPr/>
        </p:nvSpPr>
        <p:spPr>
          <a:xfrm>
            <a:off x="7181850" y="4152900"/>
            <a:ext cx="449580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 name="Google Shape;83;p2"/>
          <p:cNvSpPr/>
          <p:nvPr/>
        </p:nvSpPr>
        <p:spPr>
          <a:xfrm>
            <a:off x="7277100" y="4229100"/>
            <a:ext cx="430530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5"/>
              <a:buFont typeface="Arial"/>
              <a:buNone/>
            </a:pPr>
            <a:r>
              <a:rPr b="0" i="0" lang="en-US" sz="1225" u="none" cap="none" strike="noStrike">
                <a:solidFill>
                  <a:srgbClr val="111827"/>
                </a:solidFill>
                <a:latin typeface="Arial"/>
                <a:ea typeface="Arial"/>
                <a:cs typeface="Arial"/>
                <a:sym typeface="Arial"/>
              </a:rPr>
              <a:t>Enterprise conversation simulator inside L&amp;D suite</a:t>
            </a:r>
            <a:endParaRPr b="0" i="0" sz="1800" u="none" cap="none" strike="noStrike">
              <a:solidFill>
                <a:srgbClr val="000000"/>
              </a:solidFill>
              <a:latin typeface="Arial"/>
              <a:ea typeface="Arial"/>
              <a:cs typeface="Arial"/>
              <a:sym typeface="Arial"/>
            </a:endParaRPr>
          </a:p>
        </p:txBody>
      </p:sp>
      <p:sp>
        <p:nvSpPr>
          <p:cNvPr id="84" name="Google Shape;84;p2"/>
          <p:cNvSpPr/>
          <p:nvPr/>
        </p:nvSpPr>
        <p:spPr>
          <a:xfrm>
            <a:off x="438150" y="4800600"/>
            <a:ext cx="179832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 name="Google Shape;85;p2"/>
          <p:cNvSpPr/>
          <p:nvPr/>
        </p:nvSpPr>
        <p:spPr>
          <a:xfrm>
            <a:off x="533400" y="48768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Virti</a:t>
            </a:r>
            <a:endParaRPr b="0" i="0" sz="1800" u="none" cap="none" strike="noStrike">
              <a:solidFill>
                <a:srgbClr val="000000"/>
              </a:solidFill>
              <a:latin typeface="Arial"/>
              <a:ea typeface="Arial"/>
              <a:cs typeface="Arial"/>
              <a:sym typeface="Arial"/>
            </a:endParaRPr>
          </a:p>
        </p:txBody>
      </p:sp>
      <p:sp>
        <p:nvSpPr>
          <p:cNvPr id="86" name="Google Shape;86;p2"/>
          <p:cNvSpPr/>
          <p:nvPr/>
        </p:nvSpPr>
        <p:spPr>
          <a:xfrm>
            <a:off x="2236470" y="4800600"/>
            <a:ext cx="112395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2"/>
          <p:cNvSpPr/>
          <p:nvPr/>
        </p:nvSpPr>
        <p:spPr>
          <a:xfrm>
            <a:off x="2331720" y="4876800"/>
            <a:ext cx="93345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2017</a:t>
            </a:r>
            <a:endParaRPr b="0" i="0" sz="1800" u="none" cap="none" strike="noStrike">
              <a:solidFill>
                <a:srgbClr val="000000"/>
              </a:solidFill>
              <a:latin typeface="Arial"/>
              <a:ea typeface="Arial"/>
              <a:cs typeface="Arial"/>
              <a:sym typeface="Arial"/>
            </a:endParaRPr>
          </a:p>
        </p:txBody>
      </p:sp>
      <p:sp>
        <p:nvSpPr>
          <p:cNvPr id="88" name="Google Shape;88;p2"/>
          <p:cNvSpPr/>
          <p:nvPr/>
        </p:nvSpPr>
        <p:spPr>
          <a:xfrm>
            <a:off x="3360420" y="4800600"/>
            <a:ext cx="202311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p2"/>
          <p:cNvSpPr/>
          <p:nvPr/>
        </p:nvSpPr>
        <p:spPr>
          <a:xfrm>
            <a:off x="3455670" y="4876800"/>
            <a:ext cx="183261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n/d public total</a:t>
            </a:r>
            <a:endParaRPr b="0" i="0" sz="1800" u="none" cap="none" strike="noStrike">
              <a:solidFill>
                <a:srgbClr val="000000"/>
              </a:solidFill>
              <a:latin typeface="Arial"/>
              <a:ea typeface="Arial"/>
              <a:cs typeface="Arial"/>
              <a:sym typeface="Arial"/>
            </a:endParaRPr>
          </a:p>
        </p:txBody>
      </p:sp>
      <p:sp>
        <p:nvSpPr>
          <p:cNvPr id="90" name="Google Shape;90;p2"/>
          <p:cNvSpPr/>
          <p:nvPr/>
        </p:nvSpPr>
        <p:spPr>
          <a:xfrm>
            <a:off x="5383530" y="4800600"/>
            <a:ext cx="179832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 name="Google Shape;91;p2"/>
          <p:cNvSpPr/>
          <p:nvPr/>
        </p:nvSpPr>
        <p:spPr>
          <a:xfrm>
            <a:off x="5478780" y="48768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Series A</a:t>
            </a:r>
            <a:endParaRPr b="0" i="0" sz="1800" u="none" cap="none" strike="noStrike">
              <a:solidFill>
                <a:srgbClr val="000000"/>
              </a:solidFill>
              <a:latin typeface="Arial"/>
              <a:ea typeface="Arial"/>
              <a:cs typeface="Arial"/>
              <a:sym typeface="Arial"/>
            </a:endParaRPr>
          </a:p>
        </p:txBody>
      </p:sp>
      <p:sp>
        <p:nvSpPr>
          <p:cNvPr id="92" name="Google Shape;92;p2"/>
          <p:cNvSpPr/>
          <p:nvPr/>
        </p:nvSpPr>
        <p:spPr>
          <a:xfrm>
            <a:off x="7181850" y="4800600"/>
            <a:ext cx="449580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 name="Google Shape;93;p2"/>
          <p:cNvSpPr/>
          <p:nvPr/>
        </p:nvSpPr>
        <p:spPr>
          <a:xfrm>
            <a:off x="7277100" y="4876800"/>
            <a:ext cx="430530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5"/>
              <a:buFont typeface="Arial"/>
              <a:buNone/>
            </a:pPr>
            <a:r>
              <a:rPr b="0" i="0" lang="en-US" sz="1225" u="none" cap="none" strike="noStrike">
                <a:solidFill>
                  <a:srgbClr val="111827"/>
                </a:solidFill>
                <a:latin typeface="Arial"/>
                <a:ea typeface="Arial"/>
                <a:cs typeface="Arial"/>
                <a:sym typeface="Arial"/>
              </a:rPr>
              <a:t>Immersive roleplay + video + virtual humans</a:t>
            </a:r>
            <a:endParaRPr b="0" i="0" sz="1800" u="none" cap="none" strike="noStrike">
              <a:solidFill>
                <a:srgbClr val="000000"/>
              </a:solidFill>
              <a:latin typeface="Arial"/>
              <a:ea typeface="Arial"/>
              <a:cs typeface="Arial"/>
              <a:sym typeface="Arial"/>
            </a:endParaRPr>
          </a:p>
        </p:txBody>
      </p:sp>
      <p:sp>
        <p:nvSpPr>
          <p:cNvPr id="94" name="Google Shape;94;p2"/>
          <p:cNvSpPr/>
          <p:nvPr/>
        </p:nvSpPr>
        <p:spPr>
          <a:xfrm>
            <a:off x="438150" y="5448300"/>
            <a:ext cx="179832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 name="Google Shape;95;p2"/>
          <p:cNvSpPr/>
          <p:nvPr/>
        </p:nvSpPr>
        <p:spPr>
          <a:xfrm>
            <a:off x="533400" y="55245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Mursion</a:t>
            </a:r>
            <a:endParaRPr b="0" i="0" sz="1800" u="none" cap="none" strike="noStrike">
              <a:solidFill>
                <a:srgbClr val="000000"/>
              </a:solidFill>
              <a:latin typeface="Arial"/>
              <a:ea typeface="Arial"/>
              <a:cs typeface="Arial"/>
              <a:sym typeface="Arial"/>
            </a:endParaRPr>
          </a:p>
        </p:txBody>
      </p:sp>
      <p:sp>
        <p:nvSpPr>
          <p:cNvPr id="96" name="Google Shape;96;p2"/>
          <p:cNvSpPr/>
          <p:nvPr/>
        </p:nvSpPr>
        <p:spPr>
          <a:xfrm>
            <a:off x="2236470" y="5448300"/>
            <a:ext cx="112395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 name="Google Shape;97;p2"/>
          <p:cNvSpPr/>
          <p:nvPr/>
        </p:nvSpPr>
        <p:spPr>
          <a:xfrm>
            <a:off x="2331720" y="5524500"/>
            <a:ext cx="93345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2014</a:t>
            </a:r>
            <a:endParaRPr b="0" i="0" sz="1800" u="none" cap="none" strike="noStrike">
              <a:solidFill>
                <a:srgbClr val="000000"/>
              </a:solidFill>
              <a:latin typeface="Arial"/>
              <a:ea typeface="Arial"/>
              <a:cs typeface="Arial"/>
              <a:sym typeface="Arial"/>
            </a:endParaRPr>
          </a:p>
        </p:txBody>
      </p:sp>
      <p:sp>
        <p:nvSpPr>
          <p:cNvPr id="98" name="Google Shape;98;p2"/>
          <p:cNvSpPr/>
          <p:nvPr/>
        </p:nvSpPr>
        <p:spPr>
          <a:xfrm>
            <a:off x="3360420" y="5448300"/>
            <a:ext cx="202311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 name="Google Shape;99;p2"/>
          <p:cNvSpPr/>
          <p:nvPr/>
        </p:nvSpPr>
        <p:spPr>
          <a:xfrm>
            <a:off x="3455670" y="5524500"/>
            <a:ext cx="183261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18M+ simulation minutes</a:t>
            </a:r>
            <a:endParaRPr b="0" i="0" sz="1800" u="none" cap="none" strike="noStrike">
              <a:solidFill>
                <a:srgbClr val="000000"/>
              </a:solidFill>
              <a:latin typeface="Arial"/>
              <a:ea typeface="Arial"/>
              <a:cs typeface="Arial"/>
              <a:sym typeface="Arial"/>
            </a:endParaRPr>
          </a:p>
        </p:txBody>
      </p:sp>
      <p:sp>
        <p:nvSpPr>
          <p:cNvPr id="100" name="Google Shape;100;p2"/>
          <p:cNvSpPr/>
          <p:nvPr/>
        </p:nvSpPr>
        <p:spPr>
          <a:xfrm>
            <a:off x="5383530" y="5448300"/>
            <a:ext cx="179832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p2"/>
          <p:cNvSpPr/>
          <p:nvPr/>
        </p:nvSpPr>
        <p:spPr>
          <a:xfrm>
            <a:off x="5478780" y="55245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Venture / late early stage</a:t>
            </a:r>
            <a:endParaRPr b="0" i="0" sz="1800" u="none" cap="none" strike="noStrike">
              <a:solidFill>
                <a:srgbClr val="000000"/>
              </a:solidFill>
              <a:latin typeface="Arial"/>
              <a:ea typeface="Arial"/>
              <a:cs typeface="Arial"/>
              <a:sym typeface="Arial"/>
            </a:endParaRPr>
          </a:p>
        </p:txBody>
      </p:sp>
      <p:sp>
        <p:nvSpPr>
          <p:cNvPr id="102" name="Google Shape;102;p2"/>
          <p:cNvSpPr/>
          <p:nvPr/>
        </p:nvSpPr>
        <p:spPr>
          <a:xfrm>
            <a:off x="7181850" y="5448300"/>
            <a:ext cx="4495800" cy="647700"/>
          </a:xfrm>
          <a:prstGeom prst="roundRect">
            <a:avLst>
              <a:gd fmla="val 11765"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 name="Google Shape;103;p2"/>
          <p:cNvSpPr/>
          <p:nvPr/>
        </p:nvSpPr>
        <p:spPr>
          <a:xfrm>
            <a:off x="7277100" y="5524500"/>
            <a:ext cx="430530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5"/>
              <a:buFont typeface="Arial"/>
              <a:buNone/>
            </a:pPr>
            <a:r>
              <a:rPr b="0" i="0" lang="en-US" sz="1225" u="none" cap="none" strike="noStrike">
                <a:solidFill>
                  <a:srgbClr val="111827"/>
                </a:solidFill>
                <a:latin typeface="Arial"/>
                <a:ea typeface="Arial"/>
                <a:cs typeface="Arial"/>
                <a:sym typeface="Arial"/>
              </a:rPr>
              <a:t>Premium immersive workforce simulations</a:t>
            </a:r>
            <a:endParaRPr b="0" i="0" sz="1800" u="none" cap="none" strike="noStrike">
              <a:solidFill>
                <a:srgbClr val="000000"/>
              </a:solidFill>
              <a:latin typeface="Arial"/>
              <a:ea typeface="Arial"/>
              <a:cs typeface="Arial"/>
              <a:sym typeface="Arial"/>
            </a:endParaRPr>
          </a:p>
        </p:txBody>
      </p:sp>
      <p:sp>
        <p:nvSpPr>
          <p:cNvPr id="104" name="Google Shape;104;p2"/>
          <p:cNvSpPr/>
          <p:nvPr/>
        </p:nvSpPr>
        <p:spPr>
          <a:xfrm>
            <a:off x="438150" y="6096000"/>
            <a:ext cx="179832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p2"/>
          <p:cNvSpPr/>
          <p:nvPr/>
        </p:nvSpPr>
        <p:spPr>
          <a:xfrm>
            <a:off x="533400" y="61722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DialogueTrainer</a:t>
            </a:r>
            <a:endParaRPr b="0" i="0" sz="1800" u="none" cap="none" strike="noStrike">
              <a:solidFill>
                <a:srgbClr val="000000"/>
              </a:solidFill>
              <a:latin typeface="Arial"/>
              <a:ea typeface="Arial"/>
              <a:cs typeface="Arial"/>
              <a:sym typeface="Arial"/>
            </a:endParaRPr>
          </a:p>
        </p:txBody>
      </p:sp>
      <p:sp>
        <p:nvSpPr>
          <p:cNvPr id="106" name="Google Shape;106;p2"/>
          <p:cNvSpPr/>
          <p:nvPr/>
        </p:nvSpPr>
        <p:spPr>
          <a:xfrm>
            <a:off x="2236470" y="6096000"/>
            <a:ext cx="112395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2"/>
          <p:cNvSpPr/>
          <p:nvPr/>
        </p:nvSpPr>
        <p:spPr>
          <a:xfrm>
            <a:off x="2331720" y="6172200"/>
            <a:ext cx="93345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2016</a:t>
            </a:r>
            <a:endParaRPr b="0" i="0" sz="1800" u="none" cap="none" strike="noStrike">
              <a:solidFill>
                <a:srgbClr val="000000"/>
              </a:solidFill>
              <a:latin typeface="Arial"/>
              <a:ea typeface="Arial"/>
              <a:cs typeface="Arial"/>
              <a:sym typeface="Arial"/>
            </a:endParaRPr>
          </a:p>
        </p:txBody>
      </p:sp>
      <p:sp>
        <p:nvSpPr>
          <p:cNvPr id="108" name="Google Shape;108;p2"/>
          <p:cNvSpPr/>
          <p:nvPr/>
        </p:nvSpPr>
        <p:spPr>
          <a:xfrm>
            <a:off x="3360420" y="6096000"/>
            <a:ext cx="202311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2"/>
          <p:cNvSpPr/>
          <p:nvPr/>
        </p:nvSpPr>
        <p:spPr>
          <a:xfrm>
            <a:off x="3455670" y="6172200"/>
            <a:ext cx="183261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75k trained</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400k playthroughs</a:t>
            </a:r>
            <a:endParaRPr b="0" i="0" sz="1800" u="none" cap="none" strike="noStrike">
              <a:solidFill>
                <a:srgbClr val="000000"/>
              </a:solidFill>
              <a:latin typeface="Arial"/>
              <a:ea typeface="Arial"/>
              <a:cs typeface="Arial"/>
              <a:sym typeface="Arial"/>
            </a:endParaRPr>
          </a:p>
        </p:txBody>
      </p:sp>
      <p:sp>
        <p:nvSpPr>
          <p:cNvPr id="110" name="Google Shape;110;p2"/>
          <p:cNvSpPr/>
          <p:nvPr/>
        </p:nvSpPr>
        <p:spPr>
          <a:xfrm>
            <a:off x="5383530" y="6096000"/>
            <a:ext cx="179832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 name="Google Shape;111;p2"/>
          <p:cNvSpPr/>
          <p:nvPr/>
        </p:nvSpPr>
        <p:spPr>
          <a:xfrm>
            <a:off x="5478780" y="6172200"/>
            <a:ext cx="160782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827"/>
                </a:solidFill>
                <a:latin typeface="Arial"/>
                <a:ea typeface="Arial"/>
                <a:cs typeface="Arial"/>
                <a:sym typeface="Arial"/>
              </a:rPr>
              <a:t>Private / undisclosed</a:t>
            </a:r>
            <a:endParaRPr b="0" i="0" sz="1800" u="none" cap="none" strike="noStrike">
              <a:solidFill>
                <a:srgbClr val="000000"/>
              </a:solidFill>
              <a:latin typeface="Arial"/>
              <a:ea typeface="Arial"/>
              <a:cs typeface="Arial"/>
              <a:sym typeface="Arial"/>
            </a:endParaRPr>
          </a:p>
        </p:txBody>
      </p:sp>
      <p:sp>
        <p:nvSpPr>
          <p:cNvPr id="112" name="Google Shape;112;p2"/>
          <p:cNvSpPr/>
          <p:nvPr/>
        </p:nvSpPr>
        <p:spPr>
          <a:xfrm>
            <a:off x="7181850" y="6096000"/>
            <a:ext cx="4495800" cy="647700"/>
          </a:xfrm>
          <a:prstGeom prst="roundRect">
            <a:avLst>
              <a:gd fmla="val 11765" name="adj"/>
            </a:avLst>
          </a:prstGeom>
          <a:solidFill>
            <a:srgbClr val="FBFAF6"/>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2"/>
          <p:cNvSpPr/>
          <p:nvPr/>
        </p:nvSpPr>
        <p:spPr>
          <a:xfrm>
            <a:off x="7277100" y="6172200"/>
            <a:ext cx="4305300" cy="514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25"/>
              <a:buFont typeface="Arial"/>
              <a:buNone/>
            </a:pPr>
            <a:r>
              <a:rPr b="0" i="0" lang="en-US" sz="1225" u="none" cap="none" strike="noStrike">
                <a:solidFill>
                  <a:srgbClr val="111827"/>
                </a:solidFill>
                <a:latin typeface="Arial"/>
                <a:ea typeface="Arial"/>
                <a:cs typeface="Arial"/>
                <a:sym typeface="Arial"/>
              </a:rPr>
              <a:t>Soft-skills simulation with measurable outcomes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438150" y="183066"/>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POSITIONING</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03 / 10</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The market is not really buying dialogue. It is buying a business-problem solution.</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457200" y="1485900"/>
            <a:ext cx="9972000" cy="779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The strongest players package AI roleplay as rehearsal infrastructure for specific operational moments.</a:t>
            </a:r>
            <a:endParaRPr b="0" i="0" sz="1400" u="none" cap="none" strike="noStrike">
              <a:solidFill>
                <a:srgbClr val="000000"/>
              </a:solidFill>
              <a:latin typeface="Arial"/>
              <a:ea typeface="Arial"/>
              <a:cs typeface="Arial"/>
              <a:sym typeface="Arial"/>
            </a:endParaRPr>
          </a:p>
        </p:txBody>
      </p:sp>
      <p:sp>
        <p:nvSpPr>
          <p:cNvPr id="126" name="Google Shape;126;p3"/>
          <p:cNvSpPr/>
          <p:nvPr/>
        </p:nvSpPr>
        <p:spPr>
          <a:xfrm>
            <a:off x="552450" y="2419350"/>
            <a:ext cx="3429000" cy="3238500"/>
          </a:xfrm>
          <a:prstGeom prst="roundRect">
            <a:avLst>
              <a:gd fmla="val 235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552450" y="2419350"/>
            <a:ext cx="3429000" cy="952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742950" y="2647950"/>
            <a:ext cx="3048000" cy="419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111827"/>
                </a:solidFill>
                <a:latin typeface="Arial"/>
                <a:ea typeface="Arial"/>
                <a:cs typeface="Arial"/>
                <a:sym typeface="Arial"/>
              </a:rPr>
              <a:t>REVENUE AND CUSTOMER TEAMS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742950" y="3181350"/>
            <a:ext cx="3048000" cy="2190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sales onboarding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objection handling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rep certification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buying committee practice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customer escalation readiness</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4286250" y="2419350"/>
            <a:ext cx="3429000" cy="3238500"/>
          </a:xfrm>
          <a:prstGeom prst="roundRect">
            <a:avLst>
              <a:gd fmla="val 235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4286250" y="2419350"/>
            <a:ext cx="3429000" cy="952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4476750" y="2647950"/>
            <a:ext cx="3048000" cy="419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111827"/>
                </a:solidFill>
                <a:latin typeface="Arial"/>
                <a:ea typeface="Arial"/>
                <a:cs typeface="Arial"/>
                <a:sym typeface="Arial"/>
              </a:rPr>
              <a:t>WORKPLACE AND LEADERSHIP</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4476750" y="3181350"/>
            <a:ext cx="3048000" cy="2190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manager feedback conversations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HR and conflict scenarios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leadership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interview and panel prep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coaching at scale</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8020050" y="2419350"/>
            <a:ext cx="3429000" cy="3238500"/>
          </a:xfrm>
          <a:prstGeom prst="roundRect">
            <a:avLst>
              <a:gd fmla="val 235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8020050" y="2419350"/>
            <a:ext cx="3429000" cy="9525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8210550" y="2647950"/>
            <a:ext cx="3048000" cy="419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111827"/>
                </a:solidFill>
                <a:latin typeface="Arial"/>
                <a:ea typeface="Arial"/>
                <a:cs typeface="Arial"/>
                <a:sym typeface="Arial"/>
              </a:rPr>
              <a:t>IMMERSIVE TRAINING</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8210550" y="3181350"/>
            <a:ext cx="3048000" cy="2190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healthcare and clinical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education and classroom scenarios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frontline service practice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VR / virtual human scenarios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 behavior change training</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4"/>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438150" y="141249"/>
            <a:ext cx="42900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TABLE STAKES</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04 / 10</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The category baseline is already clear</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A new entrant without these features will look thin, even if the model quality is good.</a:t>
            </a:r>
            <a:endParaRPr b="0" i="0" sz="1400" u="none" cap="none" strike="noStrike">
              <a:solidFill>
                <a:srgbClr val="000000"/>
              </a:solidFill>
              <a:latin typeface="Arial"/>
              <a:ea typeface="Arial"/>
              <a:cs typeface="Arial"/>
              <a:sym typeface="Arial"/>
            </a:endParaRPr>
          </a:p>
        </p:txBody>
      </p:sp>
      <p:sp>
        <p:nvSpPr>
          <p:cNvPr id="151" name="Google Shape;151;p4"/>
          <p:cNvSpPr/>
          <p:nvPr/>
        </p:nvSpPr>
        <p:spPr>
          <a:xfrm>
            <a:off x="552450" y="2286000"/>
            <a:ext cx="3429000" cy="1428750"/>
          </a:xfrm>
          <a:prstGeom prst="roundRect">
            <a:avLst>
              <a:gd fmla="val 5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552450" y="2286000"/>
            <a:ext cx="76200" cy="14287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a:off x="762000" y="24765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Scenario Builder</a:t>
            </a:r>
            <a:endParaRPr b="0" i="0" sz="1400" u="none" cap="none" strike="noStrike">
              <a:solidFill>
                <a:srgbClr val="000000"/>
              </a:solidFill>
              <a:latin typeface="Arial"/>
              <a:ea typeface="Arial"/>
              <a:cs typeface="Arial"/>
              <a:sym typeface="Arial"/>
            </a:endParaRPr>
          </a:p>
        </p:txBody>
      </p:sp>
      <p:sp>
        <p:nvSpPr>
          <p:cNvPr id="154" name="Google Shape;154;p4"/>
          <p:cNvSpPr/>
          <p:nvPr/>
        </p:nvSpPr>
        <p:spPr>
          <a:xfrm>
            <a:off x="762000" y="2819400"/>
            <a:ext cx="3009900"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Prebuilt or custom scenarios tied to a real workflow.</a:t>
            </a:r>
            <a:endParaRPr b="0" i="0" sz="1400" u="none" cap="none" strike="noStrike">
              <a:solidFill>
                <a:srgbClr val="000000"/>
              </a:solidFill>
              <a:latin typeface="Arial"/>
              <a:ea typeface="Arial"/>
              <a:cs typeface="Arial"/>
              <a:sym typeface="Arial"/>
            </a:endParaRPr>
          </a:p>
        </p:txBody>
      </p:sp>
      <p:sp>
        <p:nvSpPr>
          <p:cNvPr id="155" name="Google Shape;155;p4"/>
          <p:cNvSpPr/>
          <p:nvPr/>
        </p:nvSpPr>
        <p:spPr>
          <a:xfrm>
            <a:off x="4286250" y="2286000"/>
            <a:ext cx="3429000" cy="1428750"/>
          </a:xfrm>
          <a:prstGeom prst="roundRect">
            <a:avLst>
              <a:gd fmla="val 5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
          <p:cNvSpPr/>
          <p:nvPr/>
        </p:nvSpPr>
        <p:spPr>
          <a:xfrm>
            <a:off x="4286250" y="2286000"/>
            <a:ext cx="76200" cy="14287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
          <p:cNvSpPr/>
          <p:nvPr/>
        </p:nvSpPr>
        <p:spPr>
          <a:xfrm>
            <a:off x="4495800" y="24765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Configurable Personas</a:t>
            </a:r>
            <a:endParaRPr b="0" i="0" sz="1400" u="none" cap="none" strike="noStrike">
              <a:solidFill>
                <a:srgbClr val="000000"/>
              </a:solidFill>
              <a:latin typeface="Arial"/>
              <a:ea typeface="Arial"/>
              <a:cs typeface="Arial"/>
              <a:sym typeface="Arial"/>
            </a:endParaRPr>
          </a:p>
        </p:txBody>
      </p:sp>
      <p:sp>
        <p:nvSpPr>
          <p:cNvPr id="158" name="Google Shape;158;p4"/>
          <p:cNvSpPr/>
          <p:nvPr/>
        </p:nvSpPr>
        <p:spPr>
          <a:xfrm>
            <a:off x="4495800" y="2819400"/>
            <a:ext cx="3009900"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Customer, manager, stakeholder, or patient profiles with adjustable behavior.</a:t>
            </a:r>
            <a:endParaRPr b="0" i="0" sz="1400" u="none" cap="none" strike="noStrike">
              <a:solidFill>
                <a:srgbClr val="000000"/>
              </a:solidFill>
              <a:latin typeface="Arial"/>
              <a:ea typeface="Arial"/>
              <a:cs typeface="Arial"/>
              <a:sym typeface="Arial"/>
            </a:endParaRPr>
          </a:p>
        </p:txBody>
      </p:sp>
      <p:sp>
        <p:nvSpPr>
          <p:cNvPr id="159" name="Google Shape;159;p4"/>
          <p:cNvSpPr/>
          <p:nvPr/>
        </p:nvSpPr>
        <p:spPr>
          <a:xfrm>
            <a:off x="8020050" y="2286000"/>
            <a:ext cx="3429000" cy="1428750"/>
          </a:xfrm>
          <a:prstGeom prst="roundRect">
            <a:avLst>
              <a:gd fmla="val 5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
          <p:cNvSpPr/>
          <p:nvPr/>
        </p:nvSpPr>
        <p:spPr>
          <a:xfrm>
            <a:off x="8020050" y="2286000"/>
            <a:ext cx="76200" cy="142875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p:nvPr/>
        </p:nvSpPr>
        <p:spPr>
          <a:xfrm>
            <a:off x="8229600" y="24765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Play Mode</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8229600" y="2819400"/>
            <a:ext cx="3009900"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Live voice or voice-plus-text simulation with a realistic turn-taking loop.</a:t>
            </a:r>
            <a:endParaRPr b="0" i="0" sz="1400" u="none" cap="none" strike="noStrike">
              <a:solidFill>
                <a:srgbClr val="000000"/>
              </a:solidFill>
              <a:latin typeface="Arial"/>
              <a:ea typeface="Arial"/>
              <a:cs typeface="Arial"/>
              <a:sym typeface="Arial"/>
            </a:endParaRPr>
          </a:p>
        </p:txBody>
      </p:sp>
      <p:sp>
        <p:nvSpPr>
          <p:cNvPr id="163" name="Google Shape;163;p4"/>
          <p:cNvSpPr/>
          <p:nvPr/>
        </p:nvSpPr>
        <p:spPr>
          <a:xfrm>
            <a:off x="552450" y="4000500"/>
            <a:ext cx="3429000" cy="1428750"/>
          </a:xfrm>
          <a:prstGeom prst="roundRect">
            <a:avLst>
              <a:gd fmla="val 5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
          <p:cNvSpPr/>
          <p:nvPr/>
        </p:nvSpPr>
        <p:spPr>
          <a:xfrm>
            <a:off x="552450" y="4000500"/>
            <a:ext cx="76200" cy="142875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
          <p:cNvSpPr/>
          <p:nvPr/>
        </p:nvSpPr>
        <p:spPr>
          <a:xfrm>
            <a:off x="762000" y="41910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Assessment</a:t>
            </a:r>
            <a:endParaRPr b="0" i="0" sz="1400" u="none" cap="none" strike="noStrike">
              <a:solidFill>
                <a:srgbClr val="000000"/>
              </a:solidFill>
              <a:latin typeface="Arial"/>
              <a:ea typeface="Arial"/>
              <a:cs typeface="Arial"/>
              <a:sym typeface="Arial"/>
            </a:endParaRPr>
          </a:p>
        </p:txBody>
      </p:sp>
      <p:sp>
        <p:nvSpPr>
          <p:cNvPr id="166" name="Google Shape;166;p4"/>
          <p:cNvSpPr/>
          <p:nvPr/>
        </p:nvSpPr>
        <p:spPr>
          <a:xfrm>
            <a:off x="762000" y="4533900"/>
            <a:ext cx="3009900"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Rubric-based scoring plus strengths, gaps, and next-step feedback.</a:t>
            </a:r>
            <a:endParaRPr b="0" i="0" sz="1400" u="none" cap="none" strike="noStrike">
              <a:solidFill>
                <a:srgbClr val="000000"/>
              </a:solidFill>
              <a:latin typeface="Arial"/>
              <a:ea typeface="Arial"/>
              <a:cs typeface="Arial"/>
              <a:sym typeface="Arial"/>
            </a:endParaRPr>
          </a:p>
        </p:txBody>
      </p:sp>
      <p:sp>
        <p:nvSpPr>
          <p:cNvPr id="167" name="Google Shape;167;p4"/>
          <p:cNvSpPr/>
          <p:nvPr/>
        </p:nvSpPr>
        <p:spPr>
          <a:xfrm>
            <a:off x="4286250" y="4000500"/>
            <a:ext cx="3429000" cy="1428750"/>
          </a:xfrm>
          <a:prstGeom prst="roundRect">
            <a:avLst>
              <a:gd fmla="val 5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
          <p:cNvSpPr/>
          <p:nvPr/>
        </p:nvSpPr>
        <p:spPr>
          <a:xfrm>
            <a:off x="4286250" y="4000500"/>
            <a:ext cx="76200" cy="14287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p:nvPr/>
        </p:nvSpPr>
        <p:spPr>
          <a:xfrm>
            <a:off x="4495800" y="41910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Replay Surface</a:t>
            </a:r>
            <a:endParaRPr b="0" i="0" sz="1400" u="none" cap="none" strike="noStrike">
              <a:solidFill>
                <a:srgbClr val="000000"/>
              </a:solidFill>
              <a:latin typeface="Arial"/>
              <a:ea typeface="Arial"/>
              <a:cs typeface="Arial"/>
              <a:sym typeface="Arial"/>
            </a:endParaRPr>
          </a:p>
        </p:txBody>
      </p:sp>
      <p:sp>
        <p:nvSpPr>
          <p:cNvPr id="170" name="Google Shape;170;p4"/>
          <p:cNvSpPr/>
          <p:nvPr/>
        </p:nvSpPr>
        <p:spPr>
          <a:xfrm>
            <a:off x="4495800" y="4533900"/>
            <a:ext cx="3009900"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Transcript, recording, or replay to support reflection and retraining.</a:t>
            </a:r>
            <a:endParaRPr b="0" i="0" sz="1400" u="none" cap="none" strike="noStrike">
              <a:solidFill>
                <a:srgbClr val="000000"/>
              </a:solidFill>
              <a:latin typeface="Arial"/>
              <a:ea typeface="Arial"/>
              <a:cs typeface="Arial"/>
              <a:sym typeface="Arial"/>
            </a:endParaRPr>
          </a:p>
        </p:txBody>
      </p:sp>
      <p:sp>
        <p:nvSpPr>
          <p:cNvPr id="171" name="Google Shape;171;p4"/>
          <p:cNvSpPr/>
          <p:nvPr/>
        </p:nvSpPr>
        <p:spPr>
          <a:xfrm>
            <a:off x="8020050" y="4000500"/>
            <a:ext cx="3429000" cy="1428750"/>
          </a:xfrm>
          <a:prstGeom prst="roundRect">
            <a:avLst>
              <a:gd fmla="val 5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4"/>
          <p:cNvSpPr/>
          <p:nvPr/>
        </p:nvSpPr>
        <p:spPr>
          <a:xfrm>
            <a:off x="8020050" y="4000500"/>
            <a:ext cx="76200" cy="14287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
          <p:cNvSpPr/>
          <p:nvPr/>
        </p:nvSpPr>
        <p:spPr>
          <a:xfrm>
            <a:off x="8229600" y="41910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Team Visibility</a:t>
            </a:r>
            <a:endParaRPr b="0" i="0" sz="1400" u="none" cap="none" strike="noStrike">
              <a:solidFill>
                <a:srgbClr val="000000"/>
              </a:solidFill>
              <a:latin typeface="Arial"/>
              <a:ea typeface="Arial"/>
              <a:cs typeface="Arial"/>
              <a:sym typeface="Arial"/>
            </a:endParaRPr>
          </a:p>
        </p:txBody>
      </p:sp>
      <p:sp>
        <p:nvSpPr>
          <p:cNvPr id="174" name="Google Shape;174;p4"/>
          <p:cNvSpPr/>
          <p:nvPr/>
        </p:nvSpPr>
        <p:spPr>
          <a:xfrm>
            <a:off x="8229600" y="4533900"/>
            <a:ext cx="3009900"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Admin dashboard, assignment, certification, and program analytics.</a:t>
            </a:r>
            <a:endParaRPr b="0" i="0" sz="1400" u="none" cap="none" strike="noStrike">
              <a:solidFill>
                <a:srgbClr val="000000"/>
              </a:solidFill>
              <a:latin typeface="Arial"/>
              <a:ea typeface="Arial"/>
              <a:cs typeface="Arial"/>
              <a:sym typeface="Arial"/>
            </a:endParaRPr>
          </a:p>
        </p:txBody>
      </p:sp>
      <p:sp>
        <p:nvSpPr>
          <p:cNvPr id="175" name="Google Shape;175;p4"/>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5"/>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p:nvPr/>
        </p:nvSpPr>
        <p:spPr>
          <a:xfrm>
            <a:off x="438150" y="141249"/>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OUR WEDGE</a:t>
            </a:r>
            <a:endParaRPr b="0" i="0" sz="1400" u="none" cap="none" strike="noStrike">
              <a:solidFill>
                <a:srgbClr val="000000"/>
              </a:solidFill>
              <a:latin typeface="Arial"/>
              <a:ea typeface="Arial"/>
              <a:cs typeface="Arial"/>
              <a:sym typeface="Arial"/>
            </a:endParaRPr>
          </a:p>
        </p:txBody>
      </p:sp>
      <p:sp>
        <p:nvSpPr>
          <p:cNvPr id="184" name="Google Shape;184;p5"/>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05 / 10</a:t>
            </a:r>
            <a:endParaRPr b="0" i="0" sz="1400" u="none" cap="none" strike="noStrike">
              <a:solidFill>
                <a:srgbClr val="000000"/>
              </a:solidFill>
              <a:latin typeface="Arial"/>
              <a:ea typeface="Arial"/>
              <a:cs typeface="Arial"/>
              <a:sym typeface="Arial"/>
            </a:endParaRPr>
          </a:p>
        </p:txBody>
      </p:sp>
      <p:sp>
        <p:nvSpPr>
          <p:cNvPr id="185" name="Google Shape;185;p5"/>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Two meaningful wedges sit above the crowded one-on-one roleplay layer</a:t>
            </a:r>
            <a:endParaRPr b="0" i="0" sz="1400" u="none" cap="none" strike="noStrike">
              <a:solidFill>
                <a:srgbClr val="000000"/>
              </a:solidFill>
              <a:latin typeface="Arial"/>
              <a:ea typeface="Arial"/>
              <a:cs typeface="Arial"/>
              <a:sym typeface="Arial"/>
            </a:endParaRPr>
          </a:p>
        </p:txBody>
      </p:sp>
      <p:sp>
        <p:nvSpPr>
          <p:cNvPr id="187" name="Google Shape;187;p5"/>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Multi-NPC and spatial both push the product from simple dialogue simulation toward situated social rehearsal.</a:t>
            </a:r>
            <a:endParaRPr b="0" i="0" sz="1400" u="none" cap="none" strike="noStrike">
              <a:solidFill>
                <a:srgbClr val="000000"/>
              </a:solidFill>
              <a:latin typeface="Arial"/>
              <a:ea typeface="Arial"/>
              <a:cs typeface="Arial"/>
              <a:sym typeface="Arial"/>
            </a:endParaRPr>
          </a:p>
        </p:txBody>
      </p:sp>
      <p:sp>
        <p:nvSpPr>
          <p:cNvPr id="188" name="Google Shape;188;p5"/>
          <p:cNvSpPr/>
          <p:nvPr/>
        </p:nvSpPr>
        <p:spPr>
          <a:xfrm>
            <a:off x="552450" y="2343150"/>
            <a:ext cx="5238750" cy="2705100"/>
          </a:xfrm>
          <a:prstGeom prst="roundRect">
            <a:avLst>
              <a:gd fmla="val 2817"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5"/>
          <p:cNvSpPr/>
          <p:nvPr/>
        </p:nvSpPr>
        <p:spPr>
          <a:xfrm>
            <a:off x="552450" y="2343150"/>
            <a:ext cx="76200" cy="27051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5"/>
          <p:cNvSpPr/>
          <p:nvPr/>
        </p:nvSpPr>
        <p:spPr>
          <a:xfrm>
            <a:off x="762000" y="2533650"/>
            <a:ext cx="481965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A55EA"/>
                </a:solidFill>
                <a:latin typeface="Arial"/>
                <a:ea typeface="Arial"/>
                <a:cs typeface="Arial"/>
                <a:sym typeface="Arial"/>
              </a:rPr>
              <a:t>MULTI-NPC</a:t>
            </a:r>
            <a:endParaRPr b="0" i="0" sz="2100" u="none" cap="none" strike="noStrike">
              <a:solidFill>
                <a:srgbClr val="000000"/>
              </a:solidFill>
              <a:latin typeface="Arial"/>
              <a:ea typeface="Arial"/>
              <a:cs typeface="Arial"/>
              <a:sym typeface="Arial"/>
            </a:endParaRPr>
          </a:p>
        </p:txBody>
      </p:sp>
      <p:sp>
        <p:nvSpPr>
          <p:cNvPr id="191" name="Google Shape;191;p5"/>
          <p:cNvSpPr/>
          <p:nvPr/>
        </p:nvSpPr>
        <p:spPr>
          <a:xfrm>
            <a:off x="762000" y="2876550"/>
            <a:ext cx="4760700" cy="1049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More than one active stakeholder in the same scene: a buying committee, a shopping pair, a panel interview, a manager plus HR, or a classroom group. The user is not just answering a single bot. They are navigating competing goals, power, attention, and sequencing.</a:t>
            </a:r>
            <a:endParaRPr b="0" i="0" sz="1400" u="none" cap="none" strike="noStrike">
              <a:solidFill>
                <a:srgbClr val="000000"/>
              </a:solidFill>
              <a:latin typeface="Arial"/>
              <a:ea typeface="Arial"/>
              <a:cs typeface="Arial"/>
              <a:sym typeface="Arial"/>
            </a:endParaRPr>
          </a:p>
        </p:txBody>
      </p:sp>
      <p:sp>
        <p:nvSpPr>
          <p:cNvPr id="192" name="Google Shape;192;p5"/>
          <p:cNvSpPr/>
          <p:nvPr/>
        </p:nvSpPr>
        <p:spPr>
          <a:xfrm>
            <a:off x="6400800" y="2343150"/>
            <a:ext cx="5276850" cy="2705100"/>
          </a:xfrm>
          <a:prstGeom prst="roundRect">
            <a:avLst>
              <a:gd fmla="val 2817"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5"/>
          <p:cNvSpPr/>
          <p:nvPr/>
        </p:nvSpPr>
        <p:spPr>
          <a:xfrm>
            <a:off x="6400800" y="2343150"/>
            <a:ext cx="76200" cy="270510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5"/>
          <p:cNvSpPr/>
          <p:nvPr/>
        </p:nvSpPr>
        <p:spPr>
          <a:xfrm>
            <a:off x="6610350" y="2533650"/>
            <a:ext cx="4961700" cy="342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5B8A6"/>
                </a:solidFill>
                <a:latin typeface="Arial"/>
                <a:ea typeface="Arial"/>
                <a:cs typeface="Arial"/>
                <a:sym typeface="Arial"/>
              </a:rPr>
              <a:t>SPATIAL</a:t>
            </a:r>
            <a:endParaRPr b="0" i="0" sz="2100" u="none" cap="none" strike="noStrike">
              <a:solidFill>
                <a:srgbClr val="000000"/>
              </a:solidFill>
              <a:latin typeface="Arial"/>
              <a:ea typeface="Arial"/>
              <a:cs typeface="Arial"/>
              <a:sym typeface="Arial"/>
            </a:endParaRPr>
          </a:p>
        </p:txBody>
      </p:sp>
      <p:sp>
        <p:nvSpPr>
          <p:cNvPr id="195" name="Google Shape;195;p5"/>
          <p:cNvSpPr/>
          <p:nvPr/>
        </p:nvSpPr>
        <p:spPr>
          <a:xfrm>
            <a:off x="6610350" y="2876550"/>
            <a:ext cx="4857750" cy="19812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A scene where position, movement, eye-line, proximity, and environment matter. This matters when the room changes the conversation: a showroom, hospital room, front desk, classroom, or live retail floor.</a:t>
            </a:r>
            <a:endParaRPr b="0" i="0" sz="1400" u="none" cap="none" strike="noStrike">
              <a:solidFill>
                <a:srgbClr val="000000"/>
              </a:solidFill>
              <a:latin typeface="Arial"/>
              <a:ea typeface="Arial"/>
              <a:cs typeface="Arial"/>
              <a:sym typeface="Arial"/>
            </a:endParaRPr>
          </a:p>
        </p:txBody>
      </p:sp>
      <p:sp>
        <p:nvSpPr>
          <p:cNvPr id="196" name="Google Shape;196;p5"/>
          <p:cNvSpPr/>
          <p:nvPr/>
        </p:nvSpPr>
        <p:spPr>
          <a:xfrm>
            <a:off x="552450" y="5353050"/>
            <a:ext cx="11125200" cy="914400"/>
          </a:xfrm>
          <a:prstGeom prst="roundRect">
            <a:avLst>
              <a:gd fmla="val 833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5"/>
          <p:cNvSpPr/>
          <p:nvPr/>
        </p:nvSpPr>
        <p:spPr>
          <a:xfrm>
            <a:off x="552450" y="5353050"/>
            <a:ext cx="76200" cy="91440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p:nvPr/>
        </p:nvSpPr>
        <p:spPr>
          <a:xfrm>
            <a:off x="762000" y="5543550"/>
            <a:ext cx="107061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THESIS</a:t>
            </a:r>
            <a:endParaRPr b="0" i="0" sz="1400" u="none" cap="none" strike="noStrike">
              <a:solidFill>
                <a:srgbClr val="000000"/>
              </a:solidFill>
              <a:latin typeface="Arial"/>
              <a:ea typeface="Arial"/>
              <a:cs typeface="Arial"/>
              <a:sym typeface="Arial"/>
            </a:endParaRPr>
          </a:p>
        </p:txBody>
      </p:sp>
      <p:sp>
        <p:nvSpPr>
          <p:cNvPr id="199" name="Google Shape;199;p5"/>
          <p:cNvSpPr/>
          <p:nvPr/>
        </p:nvSpPr>
        <p:spPr>
          <a:xfrm>
            <a:off x="762000" y="5886450"/>
            <a:ext cx="107061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Generic roleplay is crowded. Social complexity and situated interaction are where stronger differentiation still exists.</a:t>
            </a:r>
            <a:endParaRPr b="0" i="0" sz="1400" u="none" cap="none" strike="noStrike">
              <a:solidFill>
                <a:srgbClr val="000000"/>
              </a:solidFill>
              <a:latin typeface="Arial"/>
              <a:ea typeface="Arial"/>
              <a:cs typeface="Arial"/>
              <a:sym typeface="Arial"/>
            </a:endParaRPr>
          </a:p>
        </p:txBody>
      </p:sp>
      <p:sp>
        <p:nvSpPr>
          <p:cNvPr id="200" name="Google Shape;200;p5"/>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6"/>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6"/>
          <p:cNvSpPr/>
          <p:nvPr/>
        </p:nvSpPr>
        <p:spPr>
          <a:xfrm>
            <a:off x="438150" y="135731"/>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MULTI-NPC</a:t>
            </a:r>
            <a:endParaRPr b="0" i="0" sz="3100" u="none" cap="none" strike="noStrike">
              <a:solidFill>
                <a:srgbClr val="000000"/>
              </a:solidFill>
              <a:latin typeface="Arial"/>
              <a:ea typeface="Arial"/>
              <a:cs typeface="Arial"/>
              <a:sym typeface="Arial"/>
            </a:endParaRPr>
          </a:p>
        </p:txBody>
      </p:sp>
      <p:sp>
        <p:nvSpPr>
          <p:cNvPr id="209" name="Google Shape;209;p6"/>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1300" u="none" cap="none" strike="noStrike">
                <a:solidFill>
                  <a:srgbClr val="3D37C9"/>
                </a:solidFill>
                <a:latin typeface="Arial"/>
                <a:ea typeface="Arial"/>
                <a:cs typeface="Arial"/>
                <a:sym typeface="Arial"/>
              </a:rPr>
              <a:t>06 / 10</a:t>
            </a:r>
            <a:endParaRPr b="0" i="0" sz="800" u="none" cap="none" strike="noStrike">
              <a:solidFill>
                <a:srgbClr val="000000"/>
              </a:solidFill>
              <a:latin typeface="Arial"/>
              <a:ea typeface="Arial"/>
              <a:cs typeface="Arial"/>
              <a:sym typeface="Arial"/>
            </a:endParaRPr>
          </a:p>
        </p:txBody>
      </p:sp>
      <p:sp>
        <p:nvSpPr>
          <p:cNvPr id="210" name="Google Shape;210;p6"/>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6"/>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Multi-NPC is where orchestration starts to matter more</a:t>
            </a:r>
            <a:endParaRPr b="0" i="0" sz="1400" u="none" cap="none" strike="noStrike">
              <a:solidFill>
                <a:srgbClr val="000000"/>
              </a:solidFill>
              <a:latin typeface="Arial"/>
              <a:ea typeface="Arial"/>
              <a:cs typeface="Arial"/>
              <a:sym typeface="Arial"/>
            </a:endParaRPr>
          </a:p>
        </p:txBody>
      </p:sp>
      <p:sp>
        <p:nvSpPr>
          <p:cNvPr id="212" name="Google Shape;212;p6"/>
          <p:cNvSpPr/>
          <p:nvPr/>
        </p:nvSpPr>
        <p:spPr>
          <a:xfrm>
            <a:off x="438150" y="116205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The hard part stops being a single AI answer and becomes the social system around the conversation.</a:t>
            </a:r>
            <a:endParaRPr b="0" i="0" sz="1400" u="none" cap="none" strike="noStrike">
              <a:solidFill>
                <a:srgbClr val="000000"/>
              </a:solidFill>
              <a:latin typeface="Arial"/>
              <a:ea typeface="Arial"/>
              <a:cs typeface="Arial"/>
              <a:sym typeface="Arial"/>
            </a:endParaRPr>
          </a:p>
        </p:txBody>
      </p:sp>
      <p:sp>
        <p:nvSpPr>
          <p:cNvPr id="213" name="Google Shape;213;p6"/>
          <p:cNvSpPr/>
          <p:nvPr/>
        </p:nvSpPr>
        <p:spPr>
          <a:xfrm>
            <a:off x="552450" y="2247900"/>
            <a:ext cx="3238500" cy="2571750"/>
          </a:xfrm>
          <a:prstGeom prst="roundRect">
            <a:avLst>
              <a:gd fmla="val 296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6"/>
          <p:cNvSpPr/>
          <p:nvPr/>
        </p:nvSpPr>
        <p:spPr>
          <a:xfrm>
            <a:off x="552450" y="2247900"/>
            <a:ext cx="76200" cy="25717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p:nvPr/>
        </p:nvSpPr>
        <p:spPr>
          <a:xfrm>
            <a:off x="762000" y="2438400"/>
            <a:ext cx="2819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WHO ALREADY HAS IT</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762000" y="2781300"/>
            <a:ext cx="2819400" cy="1847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Yoodli clearly has multi-persona roleplays.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Second Nature has multiple-stakeholder scenarios.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Mursion supports multi-avatar simulation.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Virti is immersive, but true multi-NPC is not clearly verified in the same way.</a:t>
            </a:r>
            <a:endParaRPr b="0" i="0" sz="1400" u="none" cap="none" strike="noStrike">
              <a:solidFill>
                <a:srgbClr val="000000"/>
              </a:solidFill>
              <a:latin typeface="Arial"/>
              <a:ea typeface="Arial"/>
              <a:cs typeface="Arial"/>
              <a:sym typeface="Arial"/>
            </a:endParaRPr>
          </a:p>
        </p:txBody>
      </p:sp>
      <p:sp>
        <p:nvSpPr>
          <p:cNvPr id="217" name="Google Shape;217;p6"/>
          <p:cNvSpPr/>
          <p:nvPr/>
        </p:nvSpPr>
        <p:spPr>
          <a:xfrm>
            <a:off x="4191000" y="2247900"/>
            <a:ext cx="3524250" cy="2571750"/>
          </a:xfrm>
          <a:prstGeom prst="roundRect">
            <a:avLst>
              <a:gd fmla="val 296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6"/>
          <p:cNvSpPr/>
          <p:nvPr/>
        </p:nvSpPr>
        <p:spPr>
          <a:xfrm>
            <a:off x="4191000" y="2247900"/>
            <a:ext cx="76200" cy="25717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6"/>
          <p:cNvSpPr/>
          <p:nvPr/>
        </p:nvSpPr>
        <p:spPr>
          <a:xfrm>
            <a:off x="4400550" y="2438400"/>
            <a:ext cx="310515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BUSINESS CASES TODAY</a:t>
            </a:r>
            <a:endParaRPr b="0" i="0" sz="1400" u="none" cap="none" strike="noStrike">
              <a:solidFill>
                <a:srgbClr val="000000"/>
              </a:solidFill>
              <a:latin typeface="Arial"/>
              <a:ea typeface="Arial"/>
              <a:cs typeface="Arial"/>
              <a:sym typeface="Arial"/>
            </a:endParaRPr>
          </a:p>
        </p:txBody>
      </p:sp>
      <p:sp>
        <p:nvSpPr>
          <p:cNvPr id="220" name="Google Shape;220;p6"/>
          <p:cNvSpPr/>
          <p:nvPr/>
        </p:nvSpPr>
        <p:spPr>
          <a:xfrm>
            <a:off x="4400550" y="2781300"/>
            <a:ext cx="3105150" cy="1847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Buying committee sales conversations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Panel interview practice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Group presentations and audience Q&amp;A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Customer escalation scenarios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Leadership conversations with multiple parties</a:t>
            </a:r>
            <a:endParaRPr b="0" i="0" sz="1400" u="none" cap="none" strike="noStrike">
              <a:solidFill>
                <a:srgbClr val="000000"/>
              </a:solidFill>
              <a:latin typeface="Arial"/>
              <a:ea typeface="Arial"/>
              <a:cs typeface="Arial"/>
              <a:sym typeface="Arial"/>
            </a:endParaRPr>
          </a:p>
        </p:txBody>
      </p:sp>
      <p:sp>
        <p:nvSpPr>
          <p:cNvPr id="221" name="Google Shape;221;p6"/>
          <p:cNvSpPr/>
          <p:nvPr/>
        </p:nvSpPr>
        <p:spPr>
          <a:xfrm>
            <a:off x="8115300" y="2247900"/>
            <a:ext cx="3562350" cy="2571750"/>
          </a:xfrm>
          <a:prstGeom prst="roundRect">
            <a:avLst>
              <a:gd fmla="val 2963"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
          <p:cNvSpPr/>
          <p:nvPr/>
        </p:nvSpPr>
        <p:spPr>
          <a:xfrm>
            <a:off x="8115300" y="2247900"/>
            <a:ext cx="76200" cy="257175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6"/>
          <p:cNvSpPr/>
          <p:nvPr/>
        </p:nvSpPr>
        <p:spPr>
          <a:xfrm>
            <a:off x="8324850" y="2438400"/>
            <a:ext cx="314325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WHAT WE CAN ADDRESS</a:t>
            </a:r>
            <a:endParaRPr b="0" i="0" sz="1400" u="none" cap="none" strike="noStrike">
              <a:solidFill>
                <a:srgbClr val="000000"/>
              </a:solidFill>
              <a:latin typeface="Arial"/>
              <a:ea typeface="Arial"/>
              <a:cs typeface="Arial"/>
              <a:sym typeface="Arial"/>
            </a:endParaRPr>
          </a:p>
        </p:txBody>
      </p:sp>
      <p:sp>
        <p:nvSpPr>
          <p:cNvPr id="224" name="Google Shape;224;p6"/>
          <p:cNvSpPr/>
          <p:nvPr/>
        </p:nvSpPr>
        <p:spPr>
          <a:xfrm>
            <a:off x="8324850" y="2781300"/>
            <a:ext cx="3143100" cy="158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Pair-shopping retail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Showroom selling where two people influence the purchase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Manager + HR + employee rehearsals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Classroom facilitation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Healthcare bedside communication with family present</a:t>
            </a:r>
            <a:endParaRPr b="0" i="0" sz="1400" u="none" cap="none" strike="noStrike">
              <a:solidFill>
                <a:srgbClr val="000000"/>
              </a:solidFill>
              <a:latin typeface="Arial"/>
              <a:ea typeface="Arial"/>
              <a:cs typeface="Arial"/>
              <a:sym typeface="Arial"/>
            </a:endParaRPr>
          </a:p>
        </p:txBody>
      </p:sp>
      <p:sp>
        <p:nvSpPr>
          <p:cNvPr id="225" name="Google Shape;225;p6"/>
          <p:cNvSpPr/>
          <p:nvPr/>
        </p:nvSpPr>
        <p:spPr>
          <a:xfrm>
            <a:off x="552450" y="5124450"/>
            <a:ext cx="11125200" cy="1123950"/>
          </a:xfrm>
          <a:prstGeom prst="roundRect">
            <a:avLst>
              <a:gd fmla="val 6780"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
          <p:cNvSpPr/>
          <p:nvPr/>
        </p:nvSpPr>
        <p:spPr>
          <a:xfrm>
            <a:off x="552450" y="5124450"/>
            <a:ext cx="76200" cy="112395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6"/>
          <p:cNvSpPr/>
          <p:nvPr/>
        </p:nvSpPr>
        <p:spPr>
          <a:xfrm>
            <a:off x="762000" y="5314950"/>
            <a:ext cx="107061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WHY THE ORCHESTRATOR MATTERS</a:t>
            </a:r>
            <a:endParaRPr b="0" i="0" sz="1400" u="none" cap="none" strike="noStrike">
              <a:solidFill>
                <a:srgbClr val="000000"/>
              </a:solidFill>
              <a:latin typeface="Arial"/>
              <a:ea typeface="Arial"/>
              <a:cs typeface="Arial"/>
              <a:sym typeface="Arial"/>
            </a:endParaRPr>
          </a:p>
        </p:txBody>
      </p:sp>
      <p:sp>
        <p:nvSpPr>
          <p:cNvPr id="228" name="Google Shape;228;p6"/>
          <p:cNvSpPr/>
          <p:nvPr/>
        </p:nvSpPr>
        <p:spPr>
          <a:xfrm>
            <a:off x="762000" y="5657850"/>
            <a:ext cx="107061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With multi-NPC, quality depends on how goals, interruptions, alliances, turn-taking, and attention are coordinated. That orchestration layer can become a real moat, because the hard problem stops being 'generate a reply' and becomes 'simulate a social system.'</a:t>
            </a:r>
            <a:endParaRPr b="0" i="0" sz="1400" u="none" cap="none" strike="noStrike">
              <a:solidFill>
                <a:srgbClr val="000000"/>
              </a:solidFill>
              <a:latin typeface="Arial"/>
              <a:ea typeface="Arial"/>
              <a:cs typeface="Arial"/>
              <a:sym typeface="Arial"/>
            </a:endParaRPr>
          </a:p>
        </p:txBody>
      </p:sp>
      <p:sp>
        <p:nvSpPr>
          <p:cNvPr id="229" name="Google Shape;229;p6"/>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7"/>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7"/>
          <p:cNvSpPr/>
          <p:nvPr/>
        </p:nvSpPr>
        <p:spPr>
          <a:xfrm>
            <a:off x="414338" y="147638"/>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300" u="none" cap="none" strike="noStrike">
                <a:solidFill>
                  <a:srgbClr val="3D37C9"/>
                </a:solidFill>
                <a:latin typeface="Arial"/>
                <a:ea typeface="Arial"/>
                <a:cs typeface="Arial"/>
                <a:sym typeface="Arial"/>
              </a:rPr>
              <a:t>SPATIAL</a:t>
            </a:r>
            <a:endParaRPr b="0" i="0" sz="2700" u="none" cap="none" strike="noStrike">
              <a:solidFill>
                <a:srgbClr val="000000"/>
              </a:solidFill>
              <a:latin typeface="Arial"/>
              <a:ea typeface="Arial"/>
              <a:cs typeface="Arial"/>
              <a:sym typeface="Arial"/>
            </a:endParaRPr>
          </a:p>
        </p:txBody>
      </p:sp>
      <p:sp>
        <p:nvSpPr>
          <p:cNvPr id="238" name="Google Shape;238;p7"/>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u="none" cap="none" strike="noStrike">
                <a:solidFill>
                  <a:srgbClr val="3D37C9"/>
                </a:solidFill>
                <a:latin typeface="Arial"/>
                <a:ea typeface="Arial"/>
                <a:cs typeface="Arial"/>
                <a:sym typeface="Arial"/>
              </a:rPr>
              <a:t>07 / 10</a:t>
            </a:r>
            <a:endParaRPr b="0" i="0" sz="200" u="none" cap="none" strike="noStrike">
              <a:solidFill>
                <a:srgbClr val="000000"/>
              </a:solidFill>
              <a:latin typeface="Arial"/>
              <a:ea typeface="Arial"/>
              <a:cs typeface="Arial"/>
              <a:sym typeface="Arial"/>
            </a:endParaRPr>
          </a:p>
        </p:txBody>
      </p:sp>
      <p:sp>
        <p:nvSpPr>
          <p:cNvPr id="239" name="Google Shape;239;p7"/>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7"/>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Spatial is valuable when room geometry and environment affect the outcome</a:t>
            </a:r>
            <a:endParaRPr b="0" i="0" sz="1400" u="none" cap="none" strike="noStrike">
              <a:solidFill>
                <a:srgbClr val="000000"/>
              </a:solidFill>
              <a:latin typeface="Arial"/>
              <a:ea typeface="Arial"/>
              <a:cs typeface="Arial"/>
              <a:sym typeface="Arial"/>
            </a:endParaRPr>
          </a:p>
        </p:txBody>
      </p:sp>
      <p:sp>
        <p:nvSpPr>
          <p:cNvPr id="241" name="Google Shape;241;p7"/>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It matters less for phone-style objection handling, and much more for showroom, classroom, clinical, or frontline settings.</a:t>
            </a:r>
            <a:endParaRPr b="0" i="0" sz="1400" u="none" cap="none" strike="noStrike">
              <a:solidFill>
                <a:srgbClr val="000000"/>
              </a:solidFill>
              <a:latin typeface="Arial"/>
              <a:ea typeface="Arial"/>
              <a:cs typeface="Arial"/>
              <a:sym typeface="Arial"/>
            </a:endParaRPr>
          </a:p>
        </p:txBody>
      </p:sp>
      <p:sp>
        <p:nvSpPr>
          <p:cNvPr id="242" name="Google Shape;242;p7"/>
          <p:cNvSpPr/>
          <p:nvPr/>
        </p:nvSpPr>
        <p:spPr>
          <a:xfrm>
            <a:off x="552450" y="2171700"/>
            <a:ext cx="2571900" cy="1979400"/>
          </a:xfrm>
          <a:prstGeom prst="roundRect">
            <a:avLst>
              <a:gd fmla="val 421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7"/>
          <p:cNvSpPr/>
          <p:nvPr/>
        </p:nvSpPr>
        <p:spPr>
          <a:xfrm>
            <a:off x="552450" y="2171700"/>
            <a:ext cx="76200" cy="18097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7"/>
          <p:cNvSpPr/>
          <p:nvPr/>
        </p:nvSpPr>
        <p:spPr>
          <a:xfrm>
            <a:off x="762000" y="2362200"/>
            <a:ext cx="215265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WHO HAS IT</a:t>
            </a:r>
            <a:endParaRPr b="0" i="0" sz="1400" u="none" cap="none" strike="noStrike">
              <a:solidFill>
                <a:srgbClr val="000000"/>
              </a:solidFill>
              <a:latin typeface="Arial"/>
              <a:ea typeface="Arial"/>
              <a:cs typeface="Arial"/>
              <a:sym typeface="Arial"/>
            </a:endParaRPr>
          </a:p>
        </p:txBody>
      </p:sp>
      <p:sp>
        <p:nvSpPr>
          <p:cNvPr id="245" name="Google Shape;245;p7"/>
          <p:cNvSpPr/>
          <p:nvPr/>
        </p:nvSpPr>
        <p:spPr>
          <a:xfrm>
            <a:off x="762000" y="2705100"/>
            <a:ext cx="2152650" cy="1085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Virti is the clearest spatial / immersive player in our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Mursion is also closest through immersive simulations and multi-avatar practice.</a:t>
            </a:r>
            <a:endParaRPr b="0" i="0" sz="1400" u="none" cap="none" strike="noStrike">
              <a:solidFill>
                <a:srgbClr val="000000"/>
              </a:solidFill>
              <a:latin typeface="Arial"/>
              <a:ea typeface="Arial"/>
              <a:cs typeface="Arial"/>
              <a:sym typeface="Arial"/>
            </a:endParaRPr>
          </a:p>
        </p:txBody>
      </p:sp>
      <p:sp>
        <p:nvSpPr>
          <p:cNvPr id="246" name="Google Shape;246;p7"/>
          <p:cNvSpPr/>
          <p:nvPr/>
        </p:nvSpPr>
        <p:spPr>
          <a:xfrm>
            <a:off x="3371850" y="2171700"/>
            <a:ext cx="2571900" cy="1979400"/>
          </a:xfrm>
          <a:prstGeom prst="roundRect">
            <a:avLst>
              <a:gd fmla="val 421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7"/>
          <p:cNvSpPr/>
          <p:nvPr/>
        </p:nvSpPr>
        <p:spPr>
          <a:xfrm>
            <a:off x="3371850" y="2171700"/>
            <a:ext cx="76200" cy="18097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7"/>
          <p:cNvSpPr/>
          <p:nvPr/>
        </p:nvSpPr>
        <p:spPr>
          <a:xfrm>
            <a:off x="3581400" y="2362200"/>
            <a:ext cx="215265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CURRENT USE CASES</a:t>
            </a:r>
            <a:endParaRPr b="0" i="0" sz="1400" u="none" cap="none" strike="noStrike">
              <a:solidFill>
                <a:srgbClr val="000000"/>
              </a:solidFill>
              <a:latin typeface="Arial"/>
              <a:ea typeface="Arial"/>
              <a:cs typeface="Arial"/>
              <a:sym typeface="Arial"/>
            </a:endParaRPr>
          </a:p>
        </p:txBody>
      </p:sp>
      <p:sp>
        <p:nvSpPr>
          <p:cNvPr id="249" name="Google Shape;249;p7"/>
          <p:cNvSpPr/>
          <p:nvPr/>
        </p:nvSpPr>
        <p:spPr>
          <a:xfrm>
            <a:off x="3581400" y="2705100"/>
            <a:ext cx="2152650" cy="1085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Healthcare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Customer 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Leadership training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Education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VR-compatible immersive soft-skills practice</a:t>
            </a:r>
            <a:endParaRPr b="0" i="0" sz="1400" u="none" cap="none" strike="noStrike">
              <a:solidFill>
                <a:srgbClr val="000000"/>
              </a:solidFill>
              <a:latin typeface="Arial"/>
              <a:ea typeface="Arial"/>
              <a:cs typeface="Arial"/>
              <a:sym typeface="Arial"/>
            </a:endParaRPr>
          </a:p>
        </p:txBody>
      </p:sp>
      <p:sp>
        <p:nvSpPr>
          <p:cNvPr id="250" name="Google Shape;250;p7"/>
          <p:cNvSpPr/>
          <p:nvPr/>
        </p:nvSpPr>
        <p:spPr>
          <a:xfrm>
            <a:off x="6191250" y="2171700"/>
            <a:ext cx="2571900" cy="1979400"/>
          </a:xfrm>
          <a:prstGeom prst="roundRect">
            <a:avLst>
              <a:gd fmla="val 421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7"/>
          <p:cNvSpPr/>
          <p:nvPr/>
        </p:nvSpPr>
        <p:spPr>
          <a:xfrm>
            <a:off x="6191250" y="2171700"/>
            <a:ext cx="76200" cy="180975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7"/>
          <p:cNvSpPr/>
          <p:nvPr/>
        </p:nvSpPr>
        <p:spPr>
          <a:xfrm>
            <a:off x="6400800" y="2362200"/>
            <a:ext cx="215265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WHAT WE CAN ADDRESS</a:t>
            </a:r>
            <a:endParaRPr b="0" i="0" sz="1400" u="none" cap="none" strike="noStrike">
              <a:solidFill>
                <a:srgbClr val="000000"/>
              </a:solidFill>
              <a:latin typeface="Arial"/>
              <a:ea typeface="Arial"/>
              <a:cs typeface="Arial"/>
              <a:sym typeface="Arial"/>
            </a:endParaRPr>
          </a:p>
        </p:txBody>
      </p:sp>
      <p:sp>
        <p:nvSpPr>
          <p:cNvPr id="253" name="Google Shape;253;p7"/>
          <p:cNvSpPr/>
          <p:nvPr/>
        </p:nvSpPr>
        <p:spPr>
          <a:xfrm>
            <a:off x="6400800" y="2705100"/>
            <a:ext cx="2152650" cy="1085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Pair-shopping retail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Electronics / furniture showrooms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Automotive walkarounds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Hospitality floor scenarios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Front-desk or classroom facilitation</a:t>
            </a:r>
            <a:endParaRPr b="0" i="0" sz="1400" u="none" cap="none" strike="noStrike">
              <a:solidFill>
                <a:srgbClr val="000000"/>
              </a:solidFill>
              <a:latin typeface="Arial"/>
              <a:ea typeface="Arial"/>
              <a:cs typeface="Arial"/>
              <a:sym typeface="Arial"/>
            </a:endParaRPr>
          </a:p>
        </p:txBody>
      </p:sp>
      <p:sp>
        <p:nvSpPr>
          <p:cNvPr id="254" name="Google Shape;254;p7"/>
          <p:cNvSpPr/>
          <p:nvPr/>
        </p:nvSpPr>
        <p:spPr>
          <a:xfrm>
            <a:off x="9010650" y="2171700"/>
            <a:ext cx="2667000" cy="1979400"/>
          </a:xfrm>
          <a:prstGeom prst="roundRect">
            <a:avLst>
              <a:gd fmla="val 421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7"/>
          <p:cNvSpPr/>
          <p:nvPr/>
        </p:nvSpPr>
        <p:spPr>
          <a:xfrm>
            <a:off x="9010650" y="2171700"/>
            <a:ext cx="76200" cy="180975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7"/>
          <p:cNvSpPr/>
          <p:nvPr/>
        </p:nvSpPr>
        <p:spPr>
          <a:xfrm>
            <a:off x="9220200" y="2362200"/>
            <a:ext cx="2247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WHAT SPATIAL ADDS</a:t>
            </a:r>
            <a:endParaRPr b="0" i="0" sz="1400" u="none" cap="none" strike="noStrike">
              <a:solidFill>
                <a:srgbClr val="000000"/>
              </a:solidFill>
              <a:latin typeface="Arial"/>
              <a:ea typeface="Arial"/>
              <a:cs typeface="Arial"/>
              <a:sym typeface="Arial"/>
            </a:endParaRPr>
          </a:p>
        </p:txBody>
      </p:sp>
      <p:sp>
        <p:nvSpPr>
          <p:cNvPr id="257" name="Google Shape;257;p7"/>
          <p:cNvSpPr/>
          <p:nvPr/>
        </p:nvSpPr>
        <p:spPr>
          <a:xfrm>
            <a:off x="9220200" y="2705100"/>
            <a:ext cx="2247900" cy="1085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Attention distribution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Who you are facing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Physical context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Movement through the scene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Object-aware interaction</a:t>
            </a:r>
            <a:endParaRPr b="0" i="0" sz="1400" u="none" cap="none" strike="noStrike">
              <a:solidFill>
                <a:srgbClr val="000000"/>
              </a:solidFill>
              <a:latin typeface="Arial"/>
              <a:ea typeface="Arial"/>
              <a:cs typeface="Arial"/>
              <a:sym typeface="Arial"/>
            </a:endParaRPr>
          </a:p>
        </p:txBody>
      </p:sp>
      <p:sp>
        <p:nvSpPr>
          <p:cNvPr id="258" name="Google Shape;258;p7"/>
          <p:cNvSpPr/>
          <p:nvPr/>
        </p:nvSpPr>
        <p:spPr>
          <a:xfrm>
            <a:off x="552450" y="4305300"/>
            <a:ext cx="11125200" cy="1905000"/>
          </a:xfrm>
          <a:prstGeom prst="roundRect">
            <a:avLst>
              <a:gd fmla="val 4000"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7"/>
          <p:cNvSpPr/>
          <p:nvPr/>
        </p:nvSpPr>
        <p:spPr>
          <a:xfrm>
            <a:off x="552450" y="4305300"/>
            <a:ext cx="76200" cy="190500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7"/>
          <p:cNvSpPr/>
          <p:nvPr/>
        </p:nvSpPr>
        <p:spPr>
          <a:xfrm>
            <a:off x="762000" y="4495800"/>
            <a:ext cx="107061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WHY IT MATTERS</a:t>
            </a:r>
            <a:endParaRPr b="0" i="0" sz="1400" u="none" cap="none" strike="noStrike">
              <a:solidFill>
                <a:srgbClr val="000000"/>
              </a:solidFill>
              <a:latin typeface="Arial"/>
              <a:ea typeface="Arial"/>
              <a:cs typeface="Arial"/>
              <a:sym typeface="Arial"/>
            </a:endParaRPr>
          </a:p>
        </p:txBody>
      </p:sp>
      <p:sp>
        <p:nvSpPr>
          <p:cNvPr id="261" name="Google Shape;261;p7"/>
          <p:cNvSpPr/>
          <p:nvPr/>
        </p:nvSpPr>
        <p:spPr>
          <a:xfrm>
            <a:off x="762000" y="4838700"/>
            <a:ext cx="107061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Spatial turns roleplay into situated interaction rehearsal. The user is not only choosing what to say. They are choosing where to stand, who to address, when to shift attention, and how to use the environment or product in the interaction. That is especially valuable when success depends on social geometry, not just wording.</a:t>
            </a:r>
            <a:endParaRPr b="0" i="0" sz="1400" u="none" cap="none" strike="noStrike">
              <a:solidFill>
                <a:srgbClr val="000000"/>
              </a:solidFill>
              <a:latin typeface="Arial"/>
              <a:ea typeface="Arial"/>
              <a:cs typeface="Arial"/>
              <a:sym typeface="Arial"/>
            </a:endParaRPr>
          </a:p>
        </p:txBody>
      </p:sp>
      <p:sp>
        <p:nvSpPr>
          <p:cNvPr id="262" name="Google Shape;262;p7"/>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8"/>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8"/>
          <p:cNvSpPr/>
          <p:nvPr/>
        </p:nvSpPr>
        <p:spPr>
          <a:xfrm>
            <a:off x="438150" y="183066"/>
            <a:ext cx="43875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COMBINED WEDGE</a:t>
            </a:r>
            <a:endParaRPr b="0" i="0" sz="1400" u="none" cap="none" strike="noStrike">
              <a:solidFill>
                <a:srgbClr val="000000"/>
              </a:solidFill>
              <a:latin typeface="Arial"/>
              <a:ea typeface="Arial"/>
              <a:cs typeface="Arial"/>
              <a:sym typeface="Arial"/>
            </a:endParaRPr>
          </a:p>
        </p:txBody>
      </p:sp>
      <p:sp>
        <p:nvSpPr>
          <p:cNvPr id="271" name="Google Shape;271;p8"/>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08 / 10</a:t>
            </a:r>
            <a:endParaRPr b="0" i="0" sz="1400" u="none" cap="none" strike="noStrike">
              <a:solidFill>
                <a:srgbClr val="000000"/>
              </a:solidFill>
              <a:latin typeface="Arial"/>
              <a:ea typeface="Arial"/>
              <a:cs typeface="Arial"/>
              <a:sym typeface="Arial"/>
            </a:endParaRPr>
          </a:p>
        </p:txBody>
      </p:sp>
      <p:sp>
        <p:nvSpPr>
          <p:cNvPr id="272" name="Google Shape;272;p8"/>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8"/>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Spatial + multi-NPC is the sharpest wedge we can own</a:t>
            </a:r>
            <a:endParaRPr b="0" i="0" sz="1400" u="none" cap="none" strike="noStrike">
              <a:solidFill>
                <a:srgbClr val="000000"/>
              </a:solidFill>
              <a:latin typeface="Arial"/>
              <a:ea typeface="Arial"/>
              <a:cs typeface="Arial"/>
              <a:sym typeface="Arial"/>
            </a:endParaRPr>
          </a:p>
        </p:txBody>
      </p:sp>
      <p:sp>
        <p:nvSpPr>
          <p:cNvPr id="274" name="Google Shape;274;p8"/>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That combination turns AI roleplay into a social scene simulator, especially if 3D scene generation makes authoring fast enough.</a:t>
            </a:r>
            <a:endParaRPr b="0" i="0" sz="1400" u="none" cap="none" strike="noStrike">
              <a:solidFill>
                <a:srgbClr val="000000"/>
              </a:solidFill>
              <a:latin typeface="Arial"/>
              <a:ea typeface="Arial"/>
              <a:cs typeface="Arial"/>
              <a:sym typeface="Arial"/>
            </a:endParaRPr>
          </a:p>
        </p:txBody>
      </p:sp>
      <p:sp>
        <p:nvSpPr>
          <p:cNvPr id="275" name="Google Shape;275;p8"/>
          <p:cNvSpPr/>
          <p:nvPr/>
        </p:nvSpPr>
        <p:spPr>
          <a:xfrm>
            <a:off x="552450" y="2247900"/>
            <a:ext cx="5334000" cy="1733550"/>
          </a:xfrm>
          <a:prstGeom prst="roundRect">
            <a:avLst>
              <a:gd fmla="val 4396"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8"/>
          <p:cNvSpPr/>
          <p:nvPr/>
        </p:nvSpPr>
        <p:spPr>
          <a:xfrm>
            <a:off x="552450" y="2247900"/>
            <a:ext cx="76200" cy="17335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8"/>
          <p:cNvSpPr/>
          <p:nvPr/>
        </p:nvSpPr>
        <p:spPr>
          <a:xfrm>
            <a:off x="762000" y="2438400"/>
            <a:ext cx="4914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PRIMARY WEDGE</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762000" y="2781300"/>
            <a:ext cx="4914900" cy="10096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A generated 3D scene with multiple active NPCs creates a differentiated rehearsal surface: the room exists, the stakeholders exist, and the user has to navigate both.</a:t>
            </a:r>
            <a:endParaRPr b="0" i="0" sz="1400" u="none" cap="none" strike="noStrike">
              <a:solidFill>
                <a:srgbClr val="000000"/>
              </a:solidFill>
              <a:latin typeface="Arial"/>
              <a:ea typeface="Arial"/>
              <a:cs typeface="Arial"/>
              <a:sym typeface="Arial"/>
            </a:endParaRPr>
          </a:p>
        </p:txBody>
      </p:sp>
      <p:sp>
        <p:nvSpPr>
          <p:cNvPr id="279" name="Google Shape;279;p8"/>
          <p:cNvSpPr/>
          <p:nvPr/>
        </p:nvSpPr>
        <p:spPr>
          <a:xfrm>
            <a:off x="6343650" y="2247900"/>
            <a:ext cx="5334000" cy="1733550"/>
          </a:xfrm>
          <a:prstGeom prst="roundRect">
            <a:avLst>
              <a:gd fmla="val 4396"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6343650" y="2247900"/>
            <a:ext cx="76200" cy="17335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p:nvPr/>
        </p:nvSpPr>
        <p:spPr>
          <a:xfrm>
            <a:off x="6553200" y="2438400"/>
            <a:ext cx="4914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WHY 3D SCENE GENERATION HELPS</a:t>
            </a:r>
            <a:endParaRPr b="0" i="0" sz="1400" u="none" cap="none" strike="noStrike">
              <a:solidFill>
                <a:srgbClr val="000000"/>
              </a:solidFill>
              <a:latin typeface="Arial"/>
              <a:ea typeface="Arial"/>
              <a:cs typeface="Arial"/>
              <a:sym typeface="Arial"/>
            </a:endParaRPr>
          </a:p>
        </p:txBody>
      </p:sp>
      <p:sp>
        <p:nvSpPr>
          <p:cNvPr id="282" name="Google Shape;282;p8"/>
          <p:cNvSpPr/>
          <p:nvPr/>
        </p:nvSpPr>
        <p:spPr>
          <a:xfrm>
            <a:off x="6553200" y="2781300"/>
            <a:ext cx="4914900" cy="10096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If scene setup is generated from a text prompt, spatial authoring becomes cheap enough to use often. That lowers the content bottleneck that usually blocks immersive products.</a:t>
            </a:r>
            <a:endParaRPr b="0" i="0" sz="1400" u="none" cap="none" strike="noStrike">
              <a:solidFill>
                <a:srgbClr val="000000"/>
              </a:solidFill>
              <a:latin typeface="Arial"/>
              <a:ea typeface="Arial"/>
              <a:cs typeface="Arial"/>
              <a:sym typeface="Arial"/>
            </a:endParaRPr>
          </a:p>
        </p:txBody>
      </p:sp>
      <p:sp>
        <p:nvSpPr>
          <p:cNvPr id="283" name="Google Shape;283;p8"/>
          <p:cNvSpPr/>
          <p:nvPr/>
        </p:nvSpPr>
        <p:spPr>
          <a:xfrm>
            <a:off x="552450" y="4248150"/>
            <a:ext cx="3429000" cy="1714500"/>
          </a:xfrm>
          <a:prstGeom prst="roundRect">
            <a:avLst>
              <a:gd fmla="val 4444"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8"/>
          <p:cNvSpPr/>
          <p:nvPr/>
        </p:nvSpPr>
        <p:spPr>
          <a:xfrm>
            <a:off x="552450" y="4248150"/>
            <a:ext cx="76200" cy="171450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8"/>
          <p:cNvSpPr/>
          <p:nvPr/>
        </p:nvSpPr>
        <p:spPr>
          <a:xfrm>
            <a:off x="762000" y="443865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ADJACENT WEDGE 1</a:t>
            </a:r>
            <a:endParaRPr b="0" i="0" sz="1400" u="none" cap="none" strike="noStrike">
              <a:solidFill>
                <a:srgbClr val="000000"/>
              </a:solidFill>
              <a:latin typeface="Arial"/>
              <a:ea typeface="Arial"/>
              <a:cs typeface="Arial"/>
              <a:sym typeface="Arial"/>
            </a:endParaRPr>
          </a:p>
        </p:txBody>
      </p:sp>
      <p:sp>
        <p:nvSpPr>
          <p:cNvPr id="286" name="Google Shape;286;p8"/>
          <p:cNvSpPr/>
          <p:nvPr/>
        </p:nvSpPr>
        <p:spPr>
          <a:xfrm>
            <a:off x="762000" y="4781550"/>
            <a:ext cx="3009900" cy="990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Buying committee readiness with room-level analytics: who was ignored, who blocked, who drove the deal.</a:t>
            </a:r>
            <a:endParaRPr b="0" i="0" sz="1400" u="none" cap="none" strike="noStrike">
              <a:solidFill>
                <a:srgbClr val="000000"/>
              </a:solidFill>
              <a:latin typeface="Arial"/>
              <a:ea typeface="Arial"/>
              <a:cs typeface="Arial"/>
              <a:sym typeface="Arial"/>
            </a:endParaRPr>
          </a:p>
        </p:txBody>
      </p:sp>
      <p:sp>
        <p:nvSpPr>
          <p:cNvPr id="287" name="Google Shape;287;p8"/>
          <p:cNvSpPr/>
          <p:nvPr/>
        </p:nvSpPr>
        <p:spPr>
          <a:xfrm>
            <a:off x="4400550" y="4248150"/>
            <a:ext cx="3429000" cy="1714500"/>
          </a:xfrm>
          <a:prstGeom prst="roundRect">
            <a:avLst>
              <a:gd fmla="val 4444"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8"/>
          <p:cNvSpPr/>
          <p:nvPr/>
        </p:nvSpPr>
        <p:spPr>
          <a:xfrm>
            <a:off x="4400550" y="4248150"/>
            <a:ext cx="76200" cy="171450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8"/>
          <p:cNvSpPr/>
          <p:nvPr/>
        </p:nvSpPr>
        <p:spPr>
          <a:xfrm>
            <a:off x="4610100" y="443865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ADJACENT WEDGE 2</a:t>
            </a:r>
            <a:endParaRPr b="0" i="0" sz="1400" u="none" cap="none" strike="noStrike">
              <a:solidFill>
                <a:srgbClr val="000000"/>
              </a:solidFill>
              <a:latin typeface="Arial"/>
              <a:ea typeface="Arial"/>
              <a:cs typeface="Arial"/>
              <a:sym typeface="Arial"/>
            </a:endParaRPr>
          </a:p>
        </p:txBody>
      </p:sp>
      <p:sp>
        <p:nvSpPr>
          <p:cNvPr id="290" name="Google Shape;290;p8"/>
          <p:cNvSpPr/>
          <p:nvPr/>
        </p:nvSpPr>
        <p:spPr>
          <a:xfrm>
            <a:off x="4610100" y="4781550"/>
            <a:ext cx="3009900" cy="990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Pair-shopping retail training: one excited buyer, one skeptical buyer, product in scene, conversion pressure.</a:t>
            </a:r>
            <a:endParaRPr b="0" i="0" sz="1400" u="none" cap="none" strike="noStrike">
              <a:solidFill>
                <a:srgbClr val="000000"/>
              </a:solidFill>
              <a:latin typeface="Arial"/>
              <a:ea typeface="Arial"/>
              <a:cs typeface="Arial"/>
              <a:sym typeface="Arial"/>
            </a:endParaRPr>
          </a:p>
        </p:txBody>
      </p:sp>
      <p:sp>
        <p:nvSpPr>
          <p:cNvPr id="291" name="Google Shape;291;p8"/>
          <p:cNvSpPr/>
          <p:nvPr/>
        </p:nvSpPr>
        <p:spPr>
          <a:xfrm>
            <a:off x="8248650" y="4248150"/>
            <a:ext cx="3429000" cy="1714500"/>
          </a:xfrm>
          <a:prstGeom prst="roundRect">
            <a:avLst>
              <a:gd fmla="val 4444"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8"/>
          <p:cNvSpPr/>
          <p:nvPr/>
        </p:nvSpPr>
        <p:spPr>
          <a:xfrm>
            <a:off x="8248650" y="4248150"/>
            <a:ext cx="76200" cy="17145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8"/>
          <p:cNvSpPr/>
          <p:nvPr/>
        </p:nvSpPr>
        <p:spPr>
          <a:xfrm>
            <a:off x="8458200" y="443865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ADJACENT WEDGE 3</a:t>
            </a:r>
            <a:endParaRPr b="0" i="0" sz="1400" u="none" cap="none" strike="noStrike">
              <a:solidFill>
                <a:srgbClr val="000000"/>
              </a:solidFill>
              <a:latin typeface="Arial"/>
              <a:ea typeface="Arial"/>
              <a:cs typeface="Arial"/>
              <a:sym typeface="Arial"/>
            </a:endParaRPr>
          </a:p>
        </p:txBody>
      </p:sp>
      <p:sp>
        <p:nvSpPr>
          <p:cNvPr id="294" name="Google Shape;294;p8"/>
          <p:cNvSpPr/>
          <p:nvPr/>
        </p:nvSpPr>
        <p:spPr>
          <a:xfrm>
            <a:off x="8458200" y="4781550"/>
            <a:ext cx="3009900" cy="990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Certification and readiness proofs: roleplay as an operational gate, not just practice content.</a:t>
            </a:r>
            <a:endParaRPr b="0" i="0" sz="1400" u="none" cap="none" strike="noStrike">
              <a:solidFill>
                <a:srgbClr val="000000"/>
              </a:solidFill>
              <a:latin typeface="Arial"/>
              <a:ea typeface="Arial"/>
              <a:cs typeface="Arial"/>
              <a:sym typeface="Arial"/>
            </a:endParaRPr>
          </a:p>
        </p:txBody>
      </p:sp>
      <p:sp>
        <p:nvSpPr>
          <p:cNvPr id="295" name="Google Shape;295;p8"/>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9"/>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9"/>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9"/>
          <p:cNvSpPr/>
          <p:nvPr/>
        </p:nvSpPr>
        <p:spPr>
          <a:xfrm>
            <a:off x="438150" y="171600"/>
            <a:ext cx="4917300" cy="171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FEATURE STRATEGY</a:t>
            </a:r>
            <a:endParaRPr b="0" i="0" sz="1400" u="none" cap="none" strike="noStrike">
              <a:solidFill>
                <a:srgbClr val="000000"/>
              </a:solidFill>
              <a:latin typeface="Arial"/>
              <a:ea typeface="Arial"/>
              <a:cs typeface="Arial"/>
              <a:sym typeface="Arial"/>
            </a:endParaRPr>
          </a:p>
        </p:txBody>
      </p:sp>
      <p:sp>
        <p:nvSpPr>
          <p:cNvPr id="304" name="Google Shape;304;p9"/>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09 / 10</a:t>
            </a:r>
            <a:endParaRPr b="0" i="0" sz="1400" u="none" cap="none" strike="noStrike">
              <a:solidFill>
                <a:srgbClr val="000000"/>
              </a:solidFill>
              <a:latin typeface="Arial"/>
              <a:ea typeface="Arial"/>
              <a:cs typeface="Arial"/>
              <a:sym typeface="Arial"/>
            </a:endParaRPr>
          </a:p>
        </p:txBody>
      </p:sp>
      <p:sp>
        <p:nvSpPr>
          <p:cNvPr id="305" name="Google Shape;305;p9"/>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9"/>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Features</a:t>
            </a:r>
            <a:endParaRPr b="0" i="0" sz="1400" u="none" cap="none" strike="noStrike">
              <a:solidFill>
                <a:srgbClr val="000000"/>
              </a:solidFill>
              <a:latin typeface="Arial"/>
              <a:ea typeface="Arial"/>
              <a:cs typeface="Arial"/>
              <a:sym typeface="Arial"/>
            </a:endParaRPr>
          </a:p>
        </p:txBody>
      </p:sp>
      <p:sp>
        <p:nvSpPr>
          <p:cNvPr id="307" name="Google Shape;307;p9"/>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The wedge works only if the basic authoring, play mode, and feedback loop are already strong.</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552450" y="2209800"/>
            <a:ext cx="3429000" cy="3143250"/>
          </a:xfrm>
          <a:prstGeom prst="roundRect">
            <a:avLst>
              <a:gd fmla="val 2424"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9"/>
          <p:cNvSpPr/>
          <p:nvPr/>
        </p:nvSpPr>
        <p:spPr>
          <a:xfrm>
            <a:off x="552450" y="2209800"/>
            <a:ext cx="76200" cy="314325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9"/>
          <p:cNvSpPr/>
          <p:nvPr/>
        </p:nvSpPr>
        <p:spPr>
          <a:xfrm>
            <a:off x="762000" y="24003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NECESSARY</a:t>
            </a:r>
            <a:endParaRPr b="0" i="0" sz="1400" u="none" cap="none" strike="noStrike">
              <a:solidFill>
                <a:srgbClr val="000000"/>
              </a:solidFill>
              <a:latin typeface="Arial"/>
              <a:ea typeface="Arial"/>
              <a:cs typeface="Arial"/>
              <a:sym typeface="Arial"/>
            </a:endParaRPr>
          </a:p>
        </p:txBody>
      </p:sp>
      <p:sp>
        <p:nvSpPr>
          <p:cNvPr id="311" name="Google Shape;311;p9"/>
          <p:cNvSpPr/>
          <p:nvPr/>
        </p:nvSpPr>
        <p:spPr>
          <a:xfrm>
            <a:off x="762000" y="2743200"/>
            <a:ext cx="3009900" cy="2419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Scenario builder from a text prompt</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Assessment and feedback policy</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Play mode interface</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Transcript / replay</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End-of-session score and coaching</a:t>
            </a:r>
            <a:endParaRPr b="0" i="0" sz="1400" u="none" cap="none" strike="noStrike">
              <a:solidFill>
                <a:srgbClr val="000000"/>
              </a:solidFill>
              <a:latin typeface="Arial"/>
              <a:ea typeface="Arial"/>
              <a:cs typeface="Arial"/>
              <a:sym typeface="Arial"/>
            </a:endParaRPr>
          </a:p>
        </p:txBody>
      </p:sp>
      <p:sp>
        <p:nvSpPr>
          <p:cNvPr id="312" name="Google Shape;312;p9"/>
          <p:cNvSpPr/>
          <p:nvPr/>
        </p:nvSpPr>
        <p:spPr>
          <a:xfrm>
            <a:off x="4400550" y="2209800"/>
            <a:ext cx="3429000" cy="3143250"/>
          </a:xfrm>
          <a:prstGeom prst="roundRect">
            <a:avLst>
              <a:gd fmla="val 2424"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9"/>
          <p:cNvSpPr/>
          <p:nvPr/>
        </p:nvSpPr>
        <p:spPr>
          <a:xfrm>
            <a:off x="4400550" y="2209800"/>
            <a:ext cx="76200" cy="314325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9"/>
          <p:cNvSpPr/>
          <p:nvPr/>
        </p:nvSpPr>
        <p:spPr>
          <a:xfrm>
            <a:off x="4610100" y="24003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STRENGTHENS POSITIONING</a:t>
            </a:r>
            <a:endParaRPr b="0" i="0" sz="1400" u="none" cap="none" strike="noStrike">
              <a:solidFill>
                <a:srgbClr val="000000"/>
              </a:solidFill>
              <a:latin typeface="Arial"/>
              <a:ea typeface="Arial"/>
              <a:cs typeface="Arial"/>
              <a:sym typeface="Arial"/>
            </a:endParaRPr>
          </a:p>
        </p:txBody>
      </p:sp>
      <p:sp>
        <p:nvSpPr>
          <p:cNvPr id="315" name="Google Shape;315;p9"/>
          <p:cNvSpPr/>
          <p:nvPr/>
        </p:nvSpPr>
        <p:spPr>
          <a:xfrm>
            <a:off x="4610100" y="2743200"/>
            <a:ext cx="3009900" cy="2419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Camera view defines who you are speaking to</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NPC movement in the scene</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Scene-aware prompts</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Attention and coverage analytics</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Stakeholder-specific feedback</a:t>
            </a:r>
            <a:endParaRPr b="0" i="0" sz="1400" u="none" cap="none" strike="noStrike">
              <a:solidFill>
                <a:srgbClr val="000000"/>
              </a:solidFill>
              <a:latin typeface="Arial"/>
              <a:ea typeface="Arial"/>
              <a:cs typeface="Arial"/>
              <a:sym typeface="Arial"/>
            </a:endParaRPr>
          </a:p>
        </p:txBody>
      </p:sp>
      <p:sp>
        <p:nvSpPr>
          <p:cNvPr id="316" name="Google Shape;316;p9"/>
          <p:cNvSpPr/>
          <p:nvPr/>
        </p:nvSpPr>
        <p:spPr>
          <a:xfrm>
            <a:off x="8248650" y="2209800"/>
            <a:ext cx="3429000" cy="3143250"/>
          </a:xfrm>
          <a:prstGeom prst="roundRect">
            <a:avLst>
              <a:gd fmla="val 2424"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9"/>
          <p:cNvSpPr/>
          <p:nvPr/>
        </p:nvSpPr>
        <p:spPr>
          <a:xfrm>
            <a:off x="8248650" y="2209800"/>
            <a:ext cx="76200" cy="314325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9"/>
          <p:cNvSpPr/>
          <p:nvPr/>
        </p:nvSpPr>
        <p:spPr>
          <a:xfrm>
            <a:off x="8458200" y="2400300"/>
            <a:ext cx="30099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EXPLORE</a:t>
            </a:r>
            <a:endParaRPr b="0" i="0" sz="1400" u="none" cap="none" strike="noStrike">
              <a:solidFill>
                <a:srgbClr val="000000"/>
              </a:solidFill>
              <a:latin typeface="Arial"/>
              <a:ea typeface="Arial"/>
              <a:cs typeface="Arial"/>
              <a:sym typeface="Arial"/>
            </a:endParaRPr>
          </a:p>
        </p:txBody>
      </p:sp>
      <p:sp>
        <p:nvSpPr>
          <p:cNvPr id="319" name="Google Shape;319;p9"/>
          <p:cNvSpPr/>
          <p:nvPr/>
        </p:nvSpPr>
        <p:spPr>
          <a:xfrm>
            <a:off x="8458200" y="2743200"/>
            <a:ext cx="3009900" cy="2419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Latency and realtime interaction</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OpenAI Realtime API or equivalent voice loop</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Interruptions and fast turn-taking</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Whether speech feels natural enough for group scenes</a:t>
            </a:r>
            <a:endParaRPr b="0" i="0" sz="1400" u="none" cap="none" strike="noStrike">
              <a:solidFill>
                <a:srgbClr val="000000"/>
              </a:solidFill>
              <a:latin typeface="Arial"/>
              <a:ea typeface="Arial"/>
              <a:cs typeface="Arial"/>
              <a:sym typeface="Arial"/>
            </a:endParaRPr>
          </a:p>
          <a:p>
            <a:pPr indent="-309563" lvl="0" marL="457200" marR="0" rtl="0" algn="l">
              <a:lnSpc>
                <a:spcPct val="100000"/>
              </a:lnSpc>
              <a:spcBef>
                <a:spcPts val="0"/>
              </a:spcBef>
              <a:spcAft>
                <a:spcPts val="0"/>
              </a:spcAft>
              <a:buClr>
                <a:srgbClr val="111827"/>
              </a:buClr>
              <a:buSzPts val="1275"/>
              <a:buFont typeface="Arial"/>
              <a:buChar char="●"/>
            </a:pPr>
            <a:r>
              <a:rPr b="0" i="0" lang="en-US" sz="1275" u="none" cap="none" strike="noStrike">
                <a:solidFill>
                  <a:srgbClr val="111827"/>
                </a:solidFill>
                <a:latin typeface="Arial"/>
                <a:ea typeface="Arial"/>
                <a:cs typeface="Arial"/>
                <a:sym typeface="Arial"/>
              </a:rPr>
              <a:t>How much orchestration can run live</a:t>
            </a:r>
            <a:endParaRPr b="0" i="0" sz="1400" u="none" cap="none" strike="noStrike">
              <a:solidFill>
                <a:srgbClr val="000000"/>
              </a:solidFill>
              <a:latin typeface="Arial"/>
              <a:ea typeface="Arial"/>
              <a:cs typeface="Arial"/>
              <a:sym typeface="Arial"/>
            </a:endParaRPr>
          </a:p>
        </p:txBody>
      </p:sp>
      <p:sp>
        <p:nvSpPr>
          <p:cNvPr id="320" name="Google Shape;320;p9"/>
          <p:cNvSpPr/>
          <p:nvPr/>
        </p:nvSpPr>
        <p:spPr>
          <a:xfrm>
            <a:off x="552450" y="5619750"/>
            <a:ext cx="11125200" cy="666750"/>
          </a:xfrm>
          <a:prstGeom prst="roundRect">
            <a:avLst>
              <a:gd fmla="val 11429"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9"/>
          <p:cNvSpPr/>
          <p:nvPr/>
        </p:nvSpPr>
        <p:spPr>
          <a:xfrm>
            <a:off x="552450" y="5619750"/>
            <a:ext cx="76200" cy="66675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9"/>
          <p:cNvSpPr/>
          <p:nvPr/>
        </p:nvSpPr>
        <p:spPr>
          <a:xfrm>
            <a:off x="762000" y="5810250"/>
            <a:ext cx="107061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BOTTOM LINE</a:t>
            </a:r>
            <a:endParaRPr b="0" i="0" sz="1400" u="none" cap="none" strike="noStrike">
              <a:solidFill>
                <a:srgbClr val="000000"/>
              </a:solidFill>
              <a:latin typeface="Arial"/>
              <a:ea typeface="Arial"/>
              <a:cs typeface="Arial"/>
              <a:sym typeface="Arial"/>
            </a:endParaRPr>
          </a:p>
        </p:txBody>
      </p:sp>
      <p:sp>
        <p:nvSpPr>
          <p:cNvPr id="323" name="Google Shape;323;p9"/>
          <p:cNvSpPr/>
          <p:nvPr/>
        </p:nvSpPr>
        <p:spPr>
          <a:xfrm flipH="1">
            <a:off x="762000" y="6019800"/>
            <a:ext cx="10706100" cy="57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If realtime breaks, the magic breaks. Spatial and multi-NPC both get more believable when latency is low enough to preserve conversational flow.</a:t>
            </a:r>
            <a:endParaRPr b="0" i="0" sz="1400" u="none" cap="none" strike="noStrike">
              <a:solidFill>
                <a:srgbClr val="000000"/>
              </a:solidFill>
              <a:latin typeface="Arial"/>
              <a:ea typeface="Arial"/>
              <a:cs typeface="Arial"/>
              <a:sym typeface="Arial"/>
            </a:endParaRPr>
          </a:p>
        </p:txBody>
      </p:sp>
      <p:sp>
        <p:nvSpPr>
          <p:cNvPr id="324" name="Google Shape;324;p9"/>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0"/>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0"/>
          <p:cNvSpPr/>
          <p:nvPr/>
        </p:nvSpPr>
        <p:spPr>
          <a:xfrm>
            <a:off x="0" y="0"/>
            <a:ext cx="17145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0"/>
          <p:cNvSpPr/>
          <p:nvPr/>
        </p:nvSpPr>
        <p:spPr>
          <a:xfrm>
            <a:off x="438150" y="113371"/>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MVP</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10744200" y="266700"/>
            <a:ext cx="9144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10 / 10</a:t>
            </a:r>
            <a:endParaRPr b="0" i="0" sz="1400" u="none" cap="none" strike="noStrike">
              <a:solidFill>
                <a:srgbClr val="000000"/>
              </a:solidFill>
              <a:latin typeface="Arial"/>
              <a:ea typeface="Arial"/>
              <a:cs typeface="Arial"/>
              <a:sym typeface="Arial"/>
            </a:endParaRPr>
          </a:p>
        </p:txBody>
      </p:sp>
      <p:sp>
        <p:nvSpPr>
          <p:cNvPr id="334" name="Google Shape;334;p10"/>
          <p:cNvSpPr/>
          <p:nvPr/>
        </p:nvSpPr>
        <p:spPr>
          <a:xfrm>
            <a:off x="438150" y="552450"/>
            <a:ext cx="11220450" cy="1905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0"/>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A credible MVP can stay compact</a:t>
            </a:r>
            <a:endParaRPr b="0" i="0" sz="1400" u="none" cap="none" strike="noStrike">
              <a:solidFill>
                <a:srgbClr val="000000"/>
              </a:solidFill>
              <a:latin typeface="Arial"/>
              <a:ea typeface="Arial"/>
              <a:cs typeface="Arial"/>
              <a:sym typeface="Arial"/>
            </a:endParaRPr>
          </a:p>
        </p:txBody>
      </p:sp>
      <p:sp>
        <p:nvSpPr>
          <p:cNvPr id="336" name="Google Shape;336;p10"/>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The first version does not need full world simulation. It needs fast scenario creation, a strong play loop, and reliable assessment.</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a:off x="552450" y="2343150"/>
            <a:ext cx="2047875"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0"/>
          <p:cNvSpPr/>
          <p:nvPr/>
        </p:nvSpPr>
        <p:spPr>
          <a:xfrm>
            <a:off x="552450" y="2343150"/>
            <a:ext cx="76200" cy="2667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10"/>
          <p:cNvSpPr/>
          <p:nvPr/>
        </p:nvSpPr>
        <p:spPr>
          <a:xfrm>
            <a:off x="762000" y="2533650"/>
            <a:ext cx="1628775"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1. PROMPT</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a:off x="762000" y="2876550"/>
            <a:ext cx="1628775"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User describes the scenario in 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t/>
            </a:r>
            <a:endParaRPr b="0" i="0" sz="1275" u="none" cap="none" strike="noStrike">
              <a:solidFill>
                <a:srgbClr val="11182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Example: couple shopping for a TV, one price-sensitive and one gaming-focused.</a:t>
            </a:r>
            <a:endParaRPr b="0" i="0" sz="1400" u="none" cap="none" strike="noStrike">
              <a:solidFill>
                <a:srgbClr val="000000"/>
              </a:solidFill>
              <a:latin typeface="Arial"/>
              <a:ea typeface="Arial"/>
              <a:cs typeface="Arial"/>
              <a:sym typeface="Arial"/>
            </a:endParaRPr>
          </a:p>
        </p:txBody>
      </p:sp>
      <p:sp>
        <p:nvSpPr>
          <p:cNvPr id="341" name="Google Shape;341;p10"/>
          <p:cNvSpPr/>
          <p:nvPr/>
        </p:nvSpPr>
        <p:spPr>
          <a:xfrm>
            <a:off x="2800350" y="2343150"/>
            <a:ext cx="2047875"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0"/>
          <p:cNvSpPr/>
          <p:nvPr/>
        </p:nvSpPr>
        <p:spPr>
          <a:xfrm>
            <a:off x="2800350" y="2343150"/>
            <a:ext cx="76200" cy="266700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0"/>
          <p:cNvSpPr/>
          <p:nvPr/>
        </p:nvSpPr>
        <p:spPr>
          <a:xfrm>
            <a:off x="3009900" y="2533650"/>
            <a:ext cx="1628775"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2. GENERATE</a:t>
            </a:r>
            <a:endParaRPr b="0" i="0" sz="1400" u="none" cap="none" strike="noStrike">
              <a:solidFill>
                <a:srgbClr val="000000"/>
              </a:solidFill>
              <a:latin typeface="Arial"/>
              <a:ea typeface="Arial"/>
              <a:cs typeface="Arial"/>
              <a:sym typeface="Arial"/>
            </a:endParaRPr>
          </a:p>
        </p:txBody>
      </p:sp>
      <p:sp>
        <p:nvSpPr>
          <p:cNvPr id="344" name="Google Shape;344;p10"/>
          <p:cNvSpPr/>
          <p:nvPr/>
        </p:nvSpPr>
        <p:spPr>
          <a:xfrm>
            <a:off x="3009900" y="2876550"/>
            <a:ext cx="1628775"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System fills character descriptions, orchestrator rules, assessment policy, and scene definition.</a:t>
            </a:r>
            <a:endParaRPr b="0" i="0" sz="1400" u="none" cap="none" strike="noStrike">
              <a:solidFill>
                <a:srgbClr val="000000"/>
              </a:solidFill>
              <a:latin typeface="Arial"/>
              <a:ea typeface="Arial"/>
              <a:cs typeface="Arial"/>
              <a:sym typeface="Arial"/>
            </a:endParaRPr>
          </a:p>
        </p:txBody>
      </p:sp>
      <p:sp>
        <p:nvSpPr>
          <p:cNvPr id="345" name="Google Shape;345;p10"/>
          <p:cNvSpPr/>
          <p:nvPr/>
        </p:nvSpPr>
        <p:spPr>
          <a:xfrm>
            <a:off x="5048250" y="2343150"/>
            <a:ext cx="2047875"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0"/>
          <p:cNvSpPr/>
          <p:nvPr/>
        </p:nvSpPr>
        <p:spPr>
          <a:xfrm>
            <a:off x="5048250" y="2343150"/>
            <a:ext cx="76200" cy="266700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0"/>
          <p:cNvSpPr/>
          <p:nvPr/>
        </p:nvSpPr>
        <p:spPr>
          <a:xfrm>
            <a:off x="5257800" y="2533650"/>
            <a:ext cx="1628775"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3. PLAY</a:t>
            </a:r>
            <a:endParaRPr b="0" i="0" sz="1400" u="none" cap="none" strike="noStrike">
              <a:solidFill>
                <a:srgbClr val="000000"/>
              </a:solidFill>
              <a:latin typeface="Arial"/>
              <a:ea typeface="Arial"/>
              <a:cs typeface="Arial"/>
              <a:sym typeface="Arial"/>
            </a:endParaRPr>
          </a:p>
        </p:txBody>
      </p:sp>
      <p:sp>
        <p:nvSpPr>
          <p:cNvPr id="348" name="Google Shape;348;p10"/>
          <p:cNvSpPr/>
          <p:nvPr/>
        </p:nvSpPr>
        <p:spPr>
          <a:xfrm>
            <a:off x="5257800" y="2876550"/>
            <a:ext cx="1628775"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Play mode runs the scene with voice or voice+text interaction and basic room context.</a:t>
            </a:r>
            <a:endParaRPr b="0" i="0" sz="1400" u="none" cap="none" strike="noStrike">
              <a:solidFill>
                <a:srgbClr val="000000"/>
              </a:solidFill>
              <a:latin typeface="Arial"/>
              <a:ea typeface="Arial"/>
              <a:cs typeface="Arial"/>
              <a:sym typeface="Arial"/>
            </a:endParaRPr>
          </a:p>
        </p:txBody>
      </p:sp>
      <p:sp>
        <p:nvSpPr>
          <p:cNvPr id="349" name="Google Shape;349;p10"/>
          <p:cNvSpPr/>
          <p:nvPr/>
        </p:nvSpPr>
        <p:spPr>
          <a:xfrm>
            <a:off x="7296150" y="2343150"/>
            <a:ext cx="2047875"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0"/>
          <p:cNvSpPr/>
          <p:nvPr/>
        </p:nvSpPr>
        <p:spPr>
          <a:xfrm>
            <a:off x="7296150" y="2343150"/>
            <a:ext cx="76200" cy="266700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0"/>
          <p:cNvSpPr/>
          <p:nvPr/>
        </p:nvSpPr>
        <p:spPr>
          <a:xfrm>
            <a:off x="7505700" y="2533650"/>
            <a:ext cx="1628775"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4. ASSESS</a:t>
            </a:r>
            <a:endParaRPr b="0" i="0" sz="1400" u="none" cap="none" strike="noStrike">
              <a:solidFill>
                <a:srgbClr val="000000"/>
              </a:solidFill>
              <a:latin typeface="Arial"/>
              <a:ea typeface="Arial"/>
              <a:cs typeface="Arial"/>
              <a:sym typeface="Arial"/>
            </a:endParaRPr>
          </a:p>
        </p:txBody>
      </p:sp>
      <p:sp>
        <p:nvSpPr>
          <p:cNvPr id="352" name="Google Shape;352;p10"/>
          <p:cNvSpPr/>
          <p:nvPr/>
        </p:nvSpPr>
        <p:spPr>
          <a:xfrm>
            <a:off x="7505700" y="2876550"/>
            <a:ext cx="1628775"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End-of-session feedback scores readiness, missed stakeholders, tone, and next-step coaching.</a:t>
            </a:r>
            <a:endParaRPr b="0" i="0" sz="1400" u="none" cap="none" strike="noStrike">
              <a:solidFill>
                <a:srgbClr val="000000"/>
              </a:solidFill>
              <a:latin typeface="Arial"/>
              <a:ea typeface="Arial"/>
              <a:cs typeface="Arial"/>
              <a:sym typeface="Arial"/>
            </a:endParaRPr>
          </a:p>
        </p:txBody>
      </p:sp>
      <p:sp>
        <p:nvSpPr>
          <p:cNvPr id="353" name="Google Shape;353;p10"/>
          <p:cNvSpPr/>
          <p:nvPr/>
        </p:nvSpPr>
        <p:spPr>
          <a:xfrm>
            <a:off x="9544050" y="2343150"/>
            <a:ext cx="2133600" cy="2667000"/>
          </a:xfrm>
          <a:prstGeom prst="roundRect">
            <a:avLst>
              <a:gd fmla="val 357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0"/>
          <p:cNvSpPr/>
          <p:nvPr/>
        </p:nvSpPr>
        <p:spPr>
          <a:xfrm>
            <a:off x="9544050" y="2343150"/>
            <a:ext cx="76200" cy="26670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0"/>
          <p:cNvSpPr/>
          <p:nvPr/>
        </p:nvSpPr>
        <p:spPr>
          <a:xfrm>
            <a:off x="9753600" y="2533650"/>
            <a:ext cx="1714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5. ITERATE</a:t>
            </a:r>
            <a:endParaRPr b="0" i="0" sz="1400" u="none" cap="none" strike="noStrike">
              <a:solidFill>
                <a:srgbClr val="000000"/>
              </a:solidFill>
              <a:latin typeface="Arial"/>
              <a:ea typeface="Arial"/>
              <a:cs typeface="Arial"/>
              <a:sym typeface="Arial"/>
            </a:endParaRPr>
          </a:p>
        </p:txBody>
      </p:sp>
      <p:sp>
        <p:nvSpPr>
          <p:cNvPr id="356" name="Google Shape;356;p10"/>
          <p:cNvSpPr/>
          <p:nvPr/>
        </p:nvSpPr>
        <p:spPr>
          <a:xfrm>
            <a:off x="9753600" y="2876550"/>
            <a:ext cx="1714500"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User retries with the same scene or a variation to improve consistency and certification readiness.</a:t>
            </a:r>
            <a:endParaRPr b="0" i="0" sz="1400" u="none" cap="none" strike="noStrike">
              <a:solidFill>
                <a:srgbClr val="000000"/>
              </a:solidFill>
              <a:latin typeface="Arial"/>
              <a:ea typeface="Arial"/>
              <a:cs typeface="Arial"/>
              <a:sym typeface="Arial"/>
            </a:endParaRPr>
          </a:p>
        </p:txBody>
      </p:sp>
      <p:sp>
        <p:nvSpPr>
          <p:cNvPr id="357" name="Google Shape;357;p10"/>
          <p:cNvSpPr/>
          <p:nvPr/>
        </p:nvSpPr>
        <p:spPr>
          <a:xfrm>
            <a:off x="552450" y="5334000"/>
            <a:ext cx="11125200" cy="952500"/>
          </a:xfrm>
          <a:prstGeom prst="roundRect">
            <a:avLst>
              <a:gd fmla="val 8000"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0"/>
          <p:cNvSpPr/>
          <p:nvPr/>
        </p:nvSpPr>
        <p:spPr>
          <a:xfrm>
            <a:off x="552450" y="5334000"/>
            <a:ext cx="76200" cy="95250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0"/>
          <p:cNvSpPr/>
          <p:nvPr/>
        </p:nvSpPr>
        <p:spPr>
          <a:xfrm>
            <a:off x="719138" y="5443550"/>
            <a:ext cx="107061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MVP SHAPE</a:t>
            </a:r>
            <a:endParaRPr b="0" i="0" sz="1400" u="none" cap="none" strike="noStrike">
              <a:solidFill>
                <a:srgbClr val="000000"/>
              </a:solidFill>
              <a:latin typeface="Arial"/>
              <a:ea typeface="Arial"/>
              <a:cs typeface="Arial"/>
              <a:sym typeface="Arial"/>
            </a:endParaRPr>
          </a:p>
        </p:txBody>
      </p:sp>
      <p:sp>
        <p:nvSpPr>
          <p:cNvPr id="360" name="Google Shape;360;p10"/>
          <p:cNvSpPr/>
          <p:nvPr/>
        </p:nvSpPr>
        <p:spPr>
          <a:xfrm>
            <a:off x="762000" y="5715000"/>
            <a:ext cx="107061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The first MVP does not need photorealism or complex world simulation. It needs fast authoring from prompt, believable roleplay flow, an orchestrated multi-party scene where relevant, and a clear assessment at the end.</a:t>
            </a:r>
            <a:endParaRPr b="0" i="0" sz="1400" u="none" cap="none" strike="noStrike">
              <a:solidFill>
                <a:srgbClr val="000000"/>
              </a:solidFill>
              <a:latin typeface="Arial"/>
              <a:ea typeface="Arial"/>
              <a:cs typeface="Arial"/>
              <a:sym typeface="Arial"/>
            </a:endParaRPr>
          </a:p>
        </p:txBody>
      </p:sp>
      <p:sp>
        <p:nvSpPr>
          <p:cNvPr id="361" name="Google Shape;361;p10"/>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e35115c04d_0_5"/>
          <p:cNvSpPr/>
          <p:nvPr/>
        </p:nvSpPr>
        <p:spPr>
          <a:xfrm>
            <a:off x="0" y="0"/>
            <a:ext cx="12192000" cy="6858000"/>
          </a:xfrm>
          <a:prstGeom prst="rect">
            <a:avLst/>
          </a:prstGeom>
          <a:solidFill>
            <a:srgbClr val="F7F2E8"/>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e35115c04d_0_5"/>
          <p:cNvSpPr/>
          <p:nvPr/>
        </p:nvSpPr>
        <p:spPr>
          <a:xfrm>
            <a:off x="0" y="0"/>
            <a:ext cx="171600" cy="6858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3e35115c04d_0_5"/>
          <p:cNvSpPr/>
          <p:nvPr/>
        </p:nvSpPr>
        <p:spPr>
          <a:xfrm>
            <a:off x="438150" y="113371"/>
            <a:ext cx="24765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2600" u="none" cap="none" strike="noStrike">
                <a:solidFill>
                  <a:srgbClr val="3D37C9"/>
                </a:solidFill>
                <a:latin typeface="Arial"/>
                <a:ea typeface="Arial"/>
                <a:cs typeface="Arial"/>
                <a:sym typeface="Arial"/>
              </a:rPr>
              <a:t>MVP</a:t>
            </a:r>
            <a:endParaRPr b="0" i="0" sz="1400" u="none" cap="none" strike="noStrike">
              <a:solidFill>
                <a:srgbClr val="000000"/>
              </a:solidFill>
              <a:latin typeface="Arial"/>
              <a:ea typeface="Arial"/>
              <a:cs typeface="Arial"/>
              <a:sym typeface="Arial"/>
            </a:endParaRPr>
          </a:p>
        </p:txBody>
      </p:sp>
      <p:sp>
        <p:nvSpPr>
          <p:cNvPr id="370" name="Google Shape;370;g3e35115c04d_0_5"/>
          <p:cNvSpPr/>
          <p:nvPr/>
        </p:nvSpPr>
        <p:spPr>
          <a:xfrm>
            <a:off x="10744200" y="266700"/>
            <a:ext cx="9144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1</a:t>
            </a:r>
            <a:r>
              <a:rPr b="1" lang="en-US" sz="900">
                <a:solidFill>
                  <a:srgbClr val="3D37C9"/>
                </a:solidFill>
              </a:rPr>
              <a:t>0_2</a:t>
            </a:r>
            <a:r>
              <a:rPr b="1" i="0" lang="en-US" sz="900" u="none" cap="none" strike="noStrike">
                <a:solidFill>
                  <a:srgbClr val="3D37C9"/>
                </a:solidFill>
                <a:latin typeface="Arial"/>
                <a:ea typeface="Arial"/>
                <a:cs typeface="Arial"/>
                <a:sym typeface="Arial"/>
              </a:rPr>
              <a:t> / 10</a:t>
            </a:r>
            <a:endParaRPr b="0" i="0" sz="1400" u="none" cap="none" strike="noStrike">
              <a:solidFill>
                <a:srgbClr val="000000"/>
              </a:solidFill>
              <a:latin typeface="Arial"/>
              <a:ea typeface="Arial"/>
              <a:cs typeface="Arial"/>
              <a:sym typeface="Arial"/>
            </a:endParaRPr>
          </a:p>
        </p:txBody>
      </p:sp>
      <p:sp>
        <p:nvSpPr>
          <p:cNvPr id="371" name="Google Shape;371;g3e35115c04d_0_5"/>
          <p:cNvSpPr/>
          <p:nvPr/>
        </p:nvSpPr>
        <p:spPr>
          <a:xfrm>
            <a:off x="438150" y="552450"/>
            <a:ext cx="11220600" cy="19200"/>
          </a:xfrm>
          <a:prstGeom prst="rect">
            <a:avLst/>
          </a:prstGeom>
          <a:solidFill>
            <a:srgbClr val="1118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3e35115c04d_0_5"/>
          <p:cNvSpPr/>
          <p:nvPr/>
        </p:nvSpPr>
        <p:spPr>
          <a:xfrm>
            <a:off x="438150" y="781050"/>
            <a:ext cx="83820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111827"/>
                </a:solidFill>
                <a:latin typeface="Georgia"/>
                <a:ea typeface="Georgia"/>
                <a:cs typeface="Georgia"/>
                <a:sym typeface="Georgia"/>
              </a:rPr>
              <a:t>Alternative concept</a:t>
            </a:r>
            <a:endParaRPr b="0" i="0" sz="1400" u="none" cap="none" strike="noStrike">
              <a:solidFill>
                <a:srgbClr val="000000"/>
              </a:solidFill>
              <a:latin typeface="Arial"/>
              <a:ea typeface="Arial"/>
              <a:cs typeface="Arial"/>
              <a:sym typeface="Arial"/>
            </a:endParaRPr>
          </a:p>
        </p:txBody>
      </p:sp>
      <p:sp>
        <p:nvSpPr>
          <p:cNvPr id="373" name="Google Shape;373;g3e35115c04d_0_5"/>
          <p:cNvSpPr/>
          <p:nvPr/>
        </p:nvSpPr>
        <p:spPr>
          <a:xfrm>
            <a:off x="457200" y="1485900"/>
            <a:ext cx="9334500" cy="495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B6473"/>
                </a:solidFill>
                <a:latin typeface="Arial"/>
                <a:ea typeface="Arial"/>
                <a:cs typeface="Arial"/>
                <a:sym typeface="Arial"/>
              </a:rPr>
              <a:t>Rather than targeting business users specifically, address a broad consumer audience with a product that lets people recreate and rehearse real-life scenarios.</a:t>
            </a:r>
            <a:endParaRPr b="0" i="0" sz="1400" u="none" cap="none" strike="noStrike">
              <a:solidFill>
                <a:srgbClr val="000000"/>
              </a:solidFill>
              <a:latin typeface="Arial"/>
              <a:ea typeface="Arial"/>
              <a:cs typeface="Arial"/>
              <a:sym typeface="Arial"/>
            </a:endParaRPr>
          </a:p>
        </p:txBody>
      </p:sp>
      <p:sp>
        <p:nvSpPr>
          <p:cNvPr id="374" name="Google Shape;374;g3e35115c04d_0_5"/>
          <p:cNvSpPr/>
          <p:nvPr/>
        </p:nvSpPr>
        <p:spPr>
          <a:xfrm>
            <a:off x="552450" y="2343150"/>
            <a:ext cx="2047800"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e35115c04d_0_5"/>
          <p:cNvSpPr/>
          <p:nvPr/>
        </p:nvSpPr>
        <p:spPr>
          <a:xfrm>
            <a:off x="552450" y="2343150"/>
            <a:ext cx="76200" cy="2667000"/>
          </a:xfrm>
          <a:prstGeom prst="rect">
            <a:avLst/>
          </a:prstGeom>
          <a:solidFill>
            <a:srgbClr val="5A55E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e35115c04d_0_5"/>
          <p:cNvSpPr/>
          <p:nvPr/>
        </p:nvSpPr>
        <p:spPr>
          <a:xfrm>
            <a:off x="762000" y="2533650"/>
            <a:ext cx="16287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A55EA"/>
                </a:solidFill>
                <a:latin typeface="Arial"/>
                <a:ea typeface="Arial"/>
                <a:cs typeface="Arial"/>
                <a:sym typeface="Arial"/>
              </a:rPr>
              <a:t>1. PROMPT</a:t>
            </a:r>
            <a:endParaRPr b="0" i="0" sz="1400" u="none" cap="none" strike="noStrike">
              <a:solidFill>
                <a:srgbClr val="000000"/>
              </a:solidFill>
              <a:latin typeface="Arial"/>
              <a:ea typeface="Arial"/>
              <a:cs typeface="Arial"/>
              <a:sym typeface="Arial"/>
            </a:endParaRPr>
          </a:p>
        </p:txBody>
      </p:sp>
      <p:sp>
        <p:nvSpPr>
          <p:cNvPr id="377" name="Google Shape;377;g3e35115c04d_0_5"/>
          <p:cNvSpPr/>
          <p:nvPr/>
        </p:nvSpPr>
        <p:spPr>
          <a:xfrm>
            <a:off x="762000" y="2751100"/>
            <a:ext cx="1777800" cy="2068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User describes the scenario in 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br>
              <a:rPr b="0" i="0" lang="en-US" sz="1275" u="none" cap="none" strike="noStrike">
                <a:solidFill>
                  <a:srgbClr val="111827"/>
                </a:solidFill>
                <a:latin typeface="Arial"/>
                <a:ea typeface="Arial"/>
                <a:cs typeface="Arial"/>
                <a:sym typeface="Arial"/>
              </a:rPr>
            </a:br>
            <a:r>
              <a:rPr b="0" i="0" lang="en-US" sz="1275" u="none" cap="none" strike="noStrike">
                <a:solidFill>
                  <a:srgbClr val="111827"/>
                </a:solidFill>
                <a:latin typeface="Arial"/>
                <a:ea typeface="Arial"/>
                <a:cs typeface="Arial"/>
                <a:sym typeface="Arial"/>
              </a:rPr>
              <a:t>User defines the visual style, roles, and personality traits of the characters.</a:t>
            </a:r>
            <a:br>
              <a:rPr b="0" i="0" lang="en-US" sz="1275" u="none" cap="none" strike="noStrike">
                <a:solidFill>
                  <a:srgbClr val="111827"/>
                </a:solidFill>
                <a:latin typeface="Arial"/>
                <a:ea typeface="Arial"/>
                <a:cs typeface="Arial"/>
                <a:sym typeface="Arial"/>
              </a:rPr>
            </a:br>
            <a:br>
              <a:rPr b="0" i="0" lang="en-US" sz="1275" u="none" cap="none" strike="noStrike">
                <a:solidFill>
                  <a:srgbClr val="111827"/>
                </a:solidFill>
                <a:latin typeface="Arial"/>
                <a:ea typeface="Arial"/>
                <a:cs typeface="Arial"/>
                <a:sym typeface="Arial"/>
              </a:rPr>
            </a:br>
            <a:r>
              <a:rPr b="0" i="0" lang="en-US" sz="1275" u="none" cap="none" strike="noStrike">
                <a:solidFill>
                  <a:srgbClr val="111827"/>
                </a:solidFill>
                <a:latin typeface="Arial"/>
                <a:ea typeface="Arial"/>
                <a:cs typeface="Arial"/>
                <a:sym typeface="Arial"/>
              </a:rPr>
              <a:t>User uploads a photo of their space so the system can recreate it.</a:t>
            </a:r>
            <a:endParaRPr b="0" i="0" sz="1400" u="none" cap="none" strike="noStrike">
              <a:solidFill>
                <a:srgbClr val="000000"/>
              </a:solidFill>
              <a:latin typeface="Arial"/>
              <a:ea typeface="Arial"/>
              <a:cs typeface="Arial"/>
              <a:sym typeface="Arial"/>
            </a:endParaRPr>
          </a:p>
        </p:txBody>
      </p:sp>
      <p:sp>
        <p:nvSpPr>
          <p:cNvPr id="378" name="Google Shape;378;g3e35115c04d_0_5"/>
          <p:cNvSpPr/>
          <p:nvPr/>
        </p:nvSpPr>
        <p:spPr>
          <a:xfrm>
            <a:off x="2800350" y="2343150"/>
            <a:ext cx="2047800"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3e35115c04d_0_5"/>
          <p:cNvSpPr/>
          <p:nvPr/>
        </p:nvSpPr>
        <p:spPr>
          <a:xfrm>
            <a:off x="2800350" y="2343150"/>
            <a:ext cx="76200" cy="266700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e35115c04d_0_5"/>
          <p:cNvSpPr/>
          <p:nvPr/>
        </p:nvSpPr>
        <p:spPr>
          <a:xfrm>
            <a:off x="3009900" y="2533650"/>
            <a:ext cx="16287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2. GENERATE</a:t>
            </a:r>
            <a:endParaRPr b="0" i="0" sz="1400" u="none" cap="none" strike="noStrike">
              <a:solidFill>
                <a:srgbClr val="000000"/>
              </a:solidFill>
              <a:latin typeface="Arial"/>
              <a:ea typeface="Arial"/>
              <a:cs typeface="Arial"/>
              <a:sym typeface="Arial"/>
            </a:endParaRPr>
          </a:p>
        </p:txBody>
      </p:sp>
      <p:sp>
        <p:nvSpPr>
          <p:cNvPr id="381" name="Google Shape;381;g3e35115c04d_0_5"/>
          <p:cNvSpPr/>
          <p:nvPr/>
        </p:nvSpPr>
        <p:spPr>
          <a:xfrm>
            <a:off x="3009900" y="2876550"/>
            <a:ext cx="1628700"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The system generates the orchestrator rules, assessment policy, and scene definition.</a:t>
            </a:r>
            <a:endParaRPr b="0" i="0" sz="1400" u="none" cap="none" strike="noStrike">
              <a:solidFill>
                <a:srgbClr val="000000"/>
              </a:solidFill>
              <a:latin typeface="Arial"/>
              <a:ea typeface="Arial"/>
              <a:cs typeface="Arial"/>
              <a:sym typeface="Arial"/>
            </a:endParaRPr>
          </a:p>
        </p:txBody>
      </p:sp>
      <p:sp>
        <p:nvSpPr>
          <p:cNvPr id="382" name="Google Shape;382;g3e35115c04d_0_5"/>
          <p:cNvSpPr/>
          <p:nvPr/>
        </p:nvSpPr>
        <p:spPr>
          <a:xfrm>
            <a:off x="5048250" y="2343150"/>
            <a:ext cx="2047800"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3e35115c04d_0_5"/>
          <p:cNvSpPr/>
          <p:nvPr/>
        </p:nvSpPr>
        <p:spPr>
          <a:xfrm>
            <a:off x="5048250" y="2343150"/>
            <a:ext cx="76200" cy="2667000"/>
          </a:xfrm>
          <a:prstGeom prst="rect">
            <a:avLst/>
          </a:prstGeom>
          <a:solidFill>
            <a:srgbClr val="E56B5D"/>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e35115c04d_0_5"/>
          <p:cNvSpPr/>
          <p:nvPr/>
        </p:nvSpPr>
        <p:spPr>
          <a:xfrm>
            <a:off x="5257800" y="2533650"/>
            <a:ext cx="16287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56B5D"/>
                </a:solidFill>
                <a:latin typeface="Arial"/>
                <a:ea typeface="Arial"/>
                <a:cs typeface="Arial"/>
                <a:sym typeface="Arial"/>
              </a:rPr>
              <a:t>3. PLAY</a:t>
            </a:r>
            <a:endParaRPr b="0" i="0" sz="1400" u="none" cap="none" strike="noStrike">
              <a:solidFill>
                <a:srgbClr val="000000"/>
              </a:solidFill>
              <a:latin typeface="Arial"/>
              <a:ea typeface="Arial"/>
              <a:cs typeface="Arial"/>
              <a:sym typeface="Arial"/>
            </a:endParaRPr>
          </a:p>
        </p:txBody>
      </p:sp>
      <p:sp>
        <p:nvSpPr>
          <p:cNvPr id="385" name="Google Shape;385;g3e35115c04d_0_5"/>
          <p:cNvSpPr/>
          <p:nvPr/>
        </p:nvSpPr>
        <p:spPr>
          <a:xfrm>
            <a:off x="5257800" y="2876550"/>
            <a:ext cx="1628700"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Play mode runs the scene with voice or voice-and-text interaction in a basic room context.</a:t>
            </a:r>
            <a:endParaRPr b="0" i="0" sz="1400" u="none" cap="none" strike="noStrike">
              <a:solidFill>
                <a:srgbClr val="000000"/>
              </a:solidFill>
              <a:latin typeface="Arial"/>
              <a:ea typeface="Arial"/>
              <a:cs typeface="Arial"/>
              <a:sym typeface="Arial"/>
            </a:endParaRPr>
          </a:p>
        </p:txBody>
      </p:sp>
      <p:sp>
        <p:nvSpPr>
          <p:cNvPr id="386" name="Google Shape;386;g3e35115c04d_0_5"/>
          <p:cNvSpPr/>
          <p:nvPr/>
        </p:nvSpPr>
        <p:spPr>
          <a:xfrm>
            <a:off x="7296150" y="2343150"/>
            <a:ext cx="2047800" cy="2667000"/>
          </a:xfrm>
          <a:prstGeom prst="roundRect">
            <a:avLst>
              <a:gd fmla="val 372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e35115c04d_0_5"/>
          <p:cNvSpPr/>
          <p:nvPr/>
        </p:nvSpPr>
        <p:spPr>
          <a:xfrm>
            <a:off x="7296150" y="2343150"/>
            <a:ext cx="76200" cy="2667000"/>
          </a:xfrm>
          <a:prstGeom prst="rect">
            <a:avLst/>
          </a:prstGeom>
          <a:solidFill>
            <a:srgbClr val="D3A2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3e35115c04d_0_5"/>
          <p:cNvSpPr/>
          <p:nvPr/>
        </p:nvSpPr>
        <p:spPr>
          <a:xfrm>
            <a:off x="7505700" y="2533650"/>
            <a:ext cx="16287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D3A23A"/>
                </a:solidFill>
                <a:latin typeface="Arial"/>
                <a:ea typeface="Arial"/>
                <a:cs typeface="Arial"/>
                <a:sym typeface="Arial"/>
              </a:rPr>
              <a:t>4. ASSESS</a:t>
            </a:r>
            <a:endParaRPr b="0" i="0" sz="1400" u="none" cap="none" strike="noStrike">
              <a:solidFill>
                <a:srgbClr val="000000"/>
              </a:solidFill>
              <a:latin typeface="Arial"/>
              <a:ea typeface="Arial"/>
              <a:cs typeface="Arial"/>
              <a:sym typeface="Arial"/>
            </a:endParaRPr>
          </a:p>
        </p:txBody>
      </p:sp>
      <p:sp>
        <p:nvSpPr>
          <p:cNvPr id="389" name="Google Shape;389;g3e35115c04d_0_5"/>
          <p:cNvSpPr/>
          <p:nvPr/>
        </p:nvSpPr>
        <p:spPr>
          <a:xfrm>
            <a:off x="7505700" y="2876550"/>
            <a:ext cx="1628700"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End-of-session feedback evaluates readines, tone, and next-step coaching.</a:t>
            </a:r>
            <a:endParaRPr b="0" i="0" sz="1400" u="none" cap="none" strike="noStrike">
              <a:solidFill>
                <a:srgbClr val="000000"/>
              </a:solidFill>
              <a:latin typeface="Arial"/>
              <a:ea typeface="Arial"/>
              <a:cs typeface="Arial"/>
              <a:sym typeface="Arial"/>
            </a:endParaRPr>
          </a:p>
        </p:txBody>
      </p:sp>
      <p:sp>
        <p:nvSpPr>
          <p:cNvPr id="390" name="Google Shape;390;g3e35115c04d_0_5"/>
          <p:cNvSpPr/>
          <p:nvPr/>
        </p:nvSpPr>
        <p:spPr>
          <a:xfrm>
            <a:off x="9544050" y="2343150"/>
            <a:ext cx="2133600" cy="2667000"/>
          </a:xfrm>
          <a:prstGeom prst="roundRect">
            <a:avLst>
              <a:gd fmla="val 3571"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e35115c04d_0_5"/>
          <p:cNvSpPr/>
          <p:nvPr/>
        </p:nvSpPr>
        <p:spPr>
          <a:xfrm>
            <a:off x="9544050" y="2343150"/>
            <a:ext cx="76200" cy="2667000"/>
          </a:xfrm>
          <a:prstGeom prst="rect">
            <a:avLst/>
          </a:prstGeom>
          <a:solidFill>
            <a:srgbClr val="3D37C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3e35115c04d_0_5"/>
          <p:cNvSpPr/>
          <p:nvPr/>
        </p:nvSpPr>
        <p:spPr>
          <a:xfrm>
            <a:off x="9753600" y="2533650"/>
            <a:ext cx="17145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D37C9"/>
                </a:solidFill>
                <a:latin typeface="Arial"/>
                <a:ea typeface="Arial"/>
                <a:cs typeface="Arial"/>
                <a:sym typeface="Arial"/>
              </a:rPr>
              <a:t>5. ITERATE</a:t>
            </a:r>
            <a:endParaRPr b="0" i="0" sz="1400" u="none" cap="none" strike="noStrike">
              <a:solidFill>
                <a:srgbClr val="000000"/>
              </a:solidFill>
              <a:latin typeface="Arial"/>
              <a:ea typeface="Arial"/>
              <a:cs typeface="Arial"/>
              <a:sym typeface="Arial"/>
            </a:endParaRPr>
          </a:p>
        </p:txBody>
      </p:sp>
      <p:sp>
        <p:nvSpPr>
          <p:cNvPr id="393" name="Google Shape;393;g3e35115c04d_0_5"/>
          <p:cNvSpPr/>
          <p:nvPr/>
        </p:nvSpPr>
        <p:spPr>
          <a:xfrm>
            <a:off x="9753600" y="2876550"/>
            <a:ext cx="1714500" cy="19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111827"/>
                </a:solidFill>
                <a:latin typeface="Arial"/>
                <a:ea typeface="Arial"/>
                <a:cs typeface="Arial"/>
                <a:sym typeface="Arial"/>
              </a:rPr>
              <a:t>User retries with the same scene or a variation to improve consistency and certification readiness.</a:t>
            </a:r>
            <a:endParaRPr b="0" i="0" sz="1400" u="none" cap="none" strike="noStrike">
              <a:solidFill>
                <a:srgbClr val="000000"/>
              </a:solidFill>
              <a:latin typeface="Arial"/>
              <a:ea typeface="Arial"/>
              <a:cs typeface="Arial"/>
              <a:sym typeface="Arial"/>
            </a:endParaRPr>
          </a:p>
        </p:txBody>
      </p:sp>
      <p:sp>
        <p:nvSpPr>
          <p:cNvPr id="394" name="Google Shape;394;g3e35115c04d_0_5"/>
          <p:cNvSpPr/>
          <p:nvPr/>
        </p:nvSpPr>
        <p:spPr>
          <a:xfrm>
            <a:off x="552450" y="5334000"/>
            <a:ext cx="11125200" cy="952500"/>
          </a:xfrm>
          <a:prstGeom prst="roundRect">
            <a:avLst>
              <a:gd fmla="val 8000" name="adj"/>
            </a:avLst>
          </a:prstGeom>
          <a:solidFill>
            <a:srgbClr val="FFFFFF"/>
          </a:solidFill>
          <a:ln cap="flat" cmpd="sng" w="11425">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e35115c04d_0_5"/>
          <p:cNvSpPr/>
          <p:nvPr/>
        </p:nvSpPr>
        <p:spPr>
          <a:xfrm>
            <a:off x="552450" y="5334000"/>
            <a:ext cx="76200" cy="952500"/>
          </a:xfrm>
          <a:prstGeom prst="rect">
            <a:avLst/>
          </a:prstGeom>
          <a:solidFill>
            <a:srgbClr val="15B8A6"/>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3e35115c04d_0_5"/>
          <p:cNvSpPr/>
          <p:nvPr/>
        </p:nvSpPr>
        <p:spPr>
          <a:xfrm>
            <a:off x="719138" y="5443550"/>
            <a:ext cx="10706100" cy="209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5B8A6"/>
                </a:solidFill>
                <a:latin typeface="Arial"/>
                <a:ea typeface="Arial"/>
                <a:cs typeface="Arial"/>
                <a:sym typeface="Arial"/>
              </a:rPr>
              <a:t>MVP SHAPE</a:t>
            </a:r>
            <a:endParaRPr b="0" i="0" sz="1400" u="none" cap="none" strike="noStrike">
              <a:solidFill>
                <a:srgbClr val="000000"/>
              </a:solidFill>
              <a:latin typeface="Arial"/>
              <a:ea typeface="Arial"/>
              <a:cs typeface="Arial"/>
              <a:sym typeface="Arial"/>
            </a:endParaRPr>
          </a:p>
        </p:txBody>
      </p:sp>
      <p:sp>
        <p:nvSpPr>
          <p:cNvPr id="397" name="Google Shape;397;g3e35115c04d_0_5"/>
          <p:cNvSpPr/>
          <p:nvPr/>
        </p:nvSpPr>
        <p:spPr>
          <a:xfrm>
            <a:off x="762000" y="5715000"/>
            <a:ext cx="107061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0" i="0" lang="en-US" sz="1675" u="none" cap="none" strike="noStrike">
                <a:solidFill>
                  <a:srgbClr val="111827"/>
                </a:solidFill>
                <a:latin typeface="Arial"/>
                <a:ea typeface="Arial"/>
                <a:cs typeface="Arial"/>
                <a:sym typeface="Arial"/>
              </a:rPr>
              <a:t>A key feature here is how closely the product matches real user scenarios while keeping them fast to recreate.</a:t>
            </a:r>
            <a:endParaRPr b="0" i="0" sz="1800" u="none" cap="none" strike="noStrike">
              <a:solidFill>
                <a:srgbClr val="000000"/>
              </a:solidFill>
              <a:latin typeface="Arial"/>
              <a:ea typeface="Arial"/>
              <a:cs typeface="Arial"/>
              <a:sym typeface="Arial"/>
            </a:endParaRPr>
          </a:p>
        </p:txBody>
      </p:sp>
      <p:sp>
        <p:nvSpPr>
          <p:cNvPr id="398" name="Google Shape;398;g3e35115c04d_0_5"/>
          <p:cNvSpPr/>
          <p:nvPr/>
        </p:nvSpPr>
        <p:spPr>
          <a:xfrm>
            <a:off x="438150" y="6572250"/>
            <a:ext cx="11239500" cy="152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5B6473"/>
                </a:solidFill>
                <a:latin typeface="Arial"/>
                <a:ea typeface="Arial"/>
                <a:cs typeface="Arial"/>
                <a:sym typeface="Arial"/>
              </a:rPr>
              <a:t>Internal synthesis based on public sources and our own research notes.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