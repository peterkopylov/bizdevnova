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7d3c57eace4937" /><Relationship Type="http://schemas.openxmlformats.org/officeDocument/2006/relationships/extended-properties" Target="/docProps/app.xml" Id="R8e935550c4b1494d" /><Relationship Type="http://schemas.openxmlformats.org/officeDocument/2006/relationships/officeDocument" Target="/ppt/presentation.xml" Id="R5e2bf47466fb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3f1ff9343d42d5"/>
  </p:sldMasterIdLst>
  <p:notesMasterIdLst>
    <p:notesMasterId xmlns:r="http://schemas.openxmlformats.org/officeDocument/2006/relationships" r:id="R862ed2a774554b68"/>
  </p:notesMasterIdLst>
  <p:sldIdLst>
    <p:sldId xmlns:r="http://schemas.openxmlformats.org/officeDocument/2006/relationships" id="256" r:id="R2db85e2aa57d4073"/>
    <p:sldId xmlns:r="http://schemas.openxmlformats.org/officeDocument/2006/relationships" id="257" r:id="Rd71e89be756a409e"/>
    <p:sldId xmlns:r="http://schemas.openxmlformats.org/officeDocument/2006/relationships" id="258" r:id="Rf770de78f63d407e"/>
    <p:sldId xmlns:r="http://schemas.openxmlformats.org/officeDocument/2006/relationships" id="259" r:id="R599c573c2bbc49fd"/>
    <p:sldId xmlns:r="http://schemas.openxmlformats.org/officeDocument/2006/relationships" id="260" r:id="R812b3e8fa90e4cb4"/>
    <p:sldId xmlns:r="http://schemas.openxmlformats.org/officeDocument/2006/relationships" id="261" r:id="R2f1c3c7dfa6e4b5b"/>
    <p:sldId xmlns:r="http://schemas.openxmlformats.org/officeDocument/2006/relationships" id="262" r:id="R4c75b27188a545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f1ff9343d42d5" /><Relationship Type="http://schemas.openxmlformats.org/officeDocument/2006/relationships/theme" Target="/ppt/theme/theme1.xml" Id="R7b7b363d48304415" /><Relationship Type="http://schemas.openxmlformats.org/officeDocument/2006/relationships/notesMaster" Target="/ppt/notesMasters/notesMaster1.xml" Id="R862ed2a774554b68" /><Relationship Type="http://schemas.openxmlformats.org/officeDocument/2006/relationships/presProps" Target="/ppt/presProps.xml" Id="R1514566be84a4331" /><Relationship Type="http://schemas.openxmlformats.org/officeDocument/2006/relationships/viewProps" Target="/ppt/viewProps.xml" Id="R175069aa2cd941f4" /><Relationship Type="http://schemas.openxmlformats.org/officeDocument/2006/relationships/tableStyles" Target="/ppt/tableStyles.xml" Id="Rb75a5a8596f24459" /><Relationship Type="http://schemas.openxmlformats.org/officeDocument/2006/relationships/slide" Target="/ppt/slides/slide1.xml" Id="R2db85e2aa57d4073" /><Relationship Type="http://schemas.openxmlformats.org/officeDocument/2006/relationships/slide" Target="/ppt/slides/slide2.xml" Id="Rd71e89be756a409e" /><Relationship Type="http://schemas.openxmlformats.org/officeDocument/2006/relationships/slide" Target="/ppt/slides/slide3.xml" Id="Rf770de78f63d407e" /><Relationship Type="http://schemas.openxmlformats.org/officeDocument/2006/relationships/slide" Target="/ppt/slides/slide4.xml" Id="R599c573c2bbc49fd" /><Relationship Type="http://schemas.openxmlformats.org/officeDocument/2006/relationships/slide" Target="/ppt/slides/slide5.xml" Id="R812b3e8fa90e4cb4" /><Relationship Type="http://schemas.openxmlformats.org/officeDocument/2006/relationships/slide" Target="/ppt/slides/slide6.xml" Id="R2f1c3c7dfa6e4b5b" /><Relationship Type="http://schemas.openxmlformats.org/officeDocument/2006/relationships/slide" Target="/ppt/slides/slide7.xml" Id="R4c75b27188a5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0a12287890547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7b6cea0389480a" /><Relationship Type="http://schemas.openxmlformats.org/officeDocument/2006/relationships/notesMaster" Target="/ppt/notesMasters/notesMaster1.xml" Id="Rca86d64c5cef4a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df0d71bf54be0" /><Relationship Type="http://schemas.openxmlformats.org/officeDocument/2006/relationships/notesMaster" Target="/ppt/notesMasters/notesMaster1.xml" Id="R3246e017ae5b45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f2bd635f4647c5" /><Relationship Type="http://schemas.openxmlformats.org/officeDocument/2006/relationships/notesMaster" Target="/ppt/notesMasters/notesMaster1.xml" Id="Rc30c029d3614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8d05bd0a9a4add" /><Relationship Type="http://schemas.openxmlformats.org/officeDocument/2006/relationships/notesMaster" Target="/ppt/notesMasters/notesMaster1.xml" Id="Re25d7ea19a3648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2b103bb2144076" /><Relationship Type="http://schemas.openxmlformats.org/officeDocument/2006/relationships/notesMaster" Target="/ppt/notesMasters/notesMaster1.xml" Id="Rdda7ce440f974d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915a555a0f4e44" /><Relationship Type="http://schemas.openxmlformats.org/officeDocument/2006/relationships/notesMaster" Target="/ppt/notesMasters/notesMaster1.xml" Id="R71d25f8eb31a4d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6414015cbd4dc2" /><Relationship Type="http://schemas.openxmlformats.org/officeDocument/2006/relationships/notesMaster" Target="/ppt/notesMasters/notesMaster1.xml" Id="R8bdf16c17f664a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 reframing: the market is real, but the strongest products win on practice, scoring, and readiness, not on generic conversational novelty.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note: 2026-04-22-ai-for-simulating-real-life-conversations-and-scenarios-primary-research.md</a:t>
            </a:r>
          </a:p>
          <a:p xmlns:a="http://schemas.openxmlformats.org/drawingml/2006/main">
            <a:r>
              <a:t>- Workspace note: 2026-05-18-most-viable-business-case-for-ai-roleplay-market-entry.md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sets the market frame. Emphasize that customers buy outcomes after conversations, not the novelty of an AI conversation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note: 2026-04-22-ai-for-simulating-real-life-conversations-and-scenarios-primary-research.md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slide to orient the team on who matters now and why. The practical center of gravity is still one-on-one training, with multi-party simulation emerging as the future wedge.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note: 2026-04-22-skillsoft-caisy-competitor-note.md</a:t>
            </a:r>
          </a:p>
          <a:p xmlns:a="http://schemas.openxmlformats.org/drawingml/2006/main">
            <a:r>
              <a:t>- Workspace note: 2026-04-22-dialoguetrainer-competitor-note.md</a:t>
            </a:r>
          </a:p>
          <a:p xmlns:a="http://schemas.openxmlformats.org/drawingml/2006/main">
            <a:r>
              <a:t>- Workspace note: 2026-04-22-virti-competitor-note.md</a:t>
            </a:r>
          </a:p>
          <a:p xmlns:a="http://schemas.openxmlformats.org/drawingml/2006/main">
            <a:r>
              <a:t>- Workspace note: 2026-04-22-mursion-competitor-note.md</a:t>
            </a:r>
          </a:p>
          <a:p xmlns:a="http://schemas.openxmlformats.org/drawingml/2006/main">
            <a:r>
              <a:t>- Workspace note: 2026-04-22-second-nature-competitor-note.md</a:t>
            </a:r>
          </a:p>
          <a:p xmlns:a="http://schemas.openxmlformats.org/drawingml/2006/main">
            <a:r>
              <a:t>- Workspace note: 2026-04-22-simmie-competitor-note.md</a:t>
            </a:r>
          </a:p>
          <a:p xmlns:a="http://schemas.openxmlformats.org/drawingml/2006/main">
            <a:r>
              <a:t>- Workspace note: 2026-04-22-yoodli-competitor-note.md</a:t>
            </a:r>
          </a:p>
          <a:p xmlns:a="http://schemas.openxmlformats.org/drawingml/2006/main">
            <a:r>
              <a:t>- Workspace note: 2026-05-18-multi-npc-business-cases-and-best-wedge.md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point here is not precise cap-table analysis. It is that the market is validated enough to matter, but still open enough that a focused wedge can win.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note: 2026-04-22-skillsoft-caisy-competitor-note.md</a:t>
            </a:r>
          </a:p>
          <a:p xmlns:a="http://schemas.openxmlformats.org/drawingml/2006/main">
            <a:r>
              <a:t>- Workspace note: 2026-04-22-virti-competitor-note.md</a:t>
            </a:r>
          </a:p>
          <a:p xmlns:a="http://schemas.openxmlformats.org/drawingml/2006/main">
            <a:r>
              <a:t>- Workspace note: 2026-04-22-mursion-competitor-note.md</a:t>
            </a:r>
          </a:p>
          <a:p xmlns:a="http://schemas.openxmlformats.org/drawingml/2006/main">
            <a:r>
              <a:t>- Workspace note: 2026-04-22-yoodli-competitor-note.md</a:t>
            </a:r>
          </a:p>
          <a:p xmlns:a="http://schemas.openxmlformats.org/drawingml/2006/main">
            <a:r>
              <a:t>- Workspace note: 2026-04-22-second-nature-competitor-note.md</a:t>
            </a:r>
          </a:p>
          <a:p xmlns:a="http://schemas.openxmlformats.org/drawingml/2006/main">
            <a:r>
              <a:t>- Workspace note: 2026-04-22-simmie-competitor-note.md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reframing slide. If the team remembers one thing, it should be that the paid value is operationalized rehearsal, not just a better chatbot.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note: 2026-04-22-ai-for-simulating-real-life-conversations-and-scenarios-primary-research.md</a:t>
            </a:r>
          </a:p>
          <a:p xmlns:a="http://schemas.openxmlformats.org/drawingml/2006/main">
            <a:r>
              <a:t>- Workspace note: 2026-04-22-second-nature-competitor-note.md</a:t>
            </a:r>
          </a:p>
          <a:p xmlns:a="http://schemas.openxmlformats.org/drawingml/2006/main">
            <a:r>
              <a:t>- Workspace note: 2026-04-22-simmie-competitor-note.md</a:t>
            </a:r>
          </a:p>
          <a:p xmlns:a="http://schemas.openxmlformats.org/drawingml/2006/main">
            <a:r>
              <a:t>- Workspace note: 2026-04-22-skillsoft-caisy-competitor-note.md</a:t>
            </a:r>
          </a:p>
          <a:p xmlns:a="http://schemas.openxmlformats.org/drawingml/2006/main">
            <a:r>
              <a:t>- Workspace note: 2026-04-22-yoodli-competitor-note.md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practical build slide. It should help the team separate table stakes from later differentiation.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note: 2026-05-18-critical-features-to-enter-ai-roleplay-market.md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strategy call: we should not lead with the hardest simulation problem, but we should build toward the wedge that gives us real separation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note: 2026-05-18-most-viable-business-case-for-ai-roleplay-market-entry.md</a:t>
            </a:r>
          </a:p>
          <a:p xmlns:a="http://schemas.openxmlformats.org/drawingml/2006/main">
            <a:r>
              <a:t>- Workspace note: 2026-05-18-critical-features-to-enter-ai-roleplay-market.md</a:t>
            </a:r>
          </a:p>
          <a:p xmlns:a="http://schemas.openxmlformats.org/drawingml/2006/main">
            <a:r>
              <a:t>- Workspace note: 2026-05-18-multi-npc-business-cases-and-best-wedge.md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8b745e7134d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e7fa454d8c74221" /><Relationship Type="http://schemas.openxmlformats.org/officeDocument/2006/relationships/slideLayout" Target="/ppt/slideLayouts/slideLayout2.xml" Id="R08052a222bec42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052a222bec42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440d8e0f5c4af4" /><Relationship Type="http://schemas.openxmlformats.org/officeDocument/2006/relationships/image" Target="/ppt/media/image.png" Id="R0c93d748fa2640d7" /><Relationship Type="http://schemas.openxmlformats.org/officeDocument/2006/relationships/notesSlide" Target="/ppt/notesSlides/notesSlide1.xml" Id="Rd855e8255a1e4c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52f2ef84c44743" /><Relationship Type="http://schemas.openxmlformats.org/officeDocument/2006/relationships/image" Target="/ppt/media/image2.png" Id="Rcc8fc829c0964af6" /><Relationship Type="http://schemas.openxmlformats.org/officeDocument/2006/relationships/notesSlide" Target="/ppt/notesSlides/notesSlide2.xml" Id="R2a2f1d65294b46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a145edae304884" /><Relationship Type="http://schemas.openxmlformats.org/officeDocument/2006/relationships/image" Target="/ppt/media/image3.png" Id="Rb80512c669454d39" /><Relationship Type="http://schemas.openxmlformats.org/officeDocument/2006/relationships/notesSlide" Target="/ppt/notesSlides/notesSlide3.xml" Id="R77d01c4ab14b49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dd74fd19db4412" /><Relationship Type="http://schemas.openxmlformats.org/officeDocument/2006/relationships/image" Target="/ppt/media/image4.png" Id="Rea2de6a634ad4069" /><Relationship Type="http://schemas.openxmlformats.org/officeDocument/2006/relationships/notesSlide" Target="/ppt/notesSlides/notesSlide4.xml" Id="Rec6372f9ffbc49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151ef140ab4778" /><Relationship Type="http://schemas.openxmlformats.org/officeDocument/2006/relationships/image" Target="/ppt/media/image5.png" Id="R4d08c7f4bc204cc4" /><Relationship Type="http://schemas.openxmlformats.org/officeDocument/2006/relationships/notesSlide" Target="/ppt/notesSlides/notesSlide5.xml" Id="R1333b36c508144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a5a9bfdda4dde" /><Relationship Type="http://schemas.openxmlformats.org/officeDocument/2006/relationships/image" Target="/ppt/media/image6.png" Id="Rbc1da81c384547df" /><Relationship Type="http://schemas.openxmlformats.org/officeDocument/2006/relationships/notesSlide" Target="/ppt/notesSlides/notesSlide6.xml" Id="R5fd9c8c956564a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635c65348d4e92" /><Relationship Type="http://schemas.openxmlformats.org/officeDocument/2006/relationships/image" Target="/ppt/media/image7.png" Id="Rfffe21e8dd844b1f" /><Relationship Type="http://schemas.openxmlformats.org/officeDocument/2006/relationships/notesSlide" Target="/ppt/notesSlides/notesSlide7.xml" Id="Rde44764cb2de4a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3d748fa2640d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6CB96-2B2C-49BC-8723-DE19FE59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D886F-5DC4-421B-B4AA-3EA6F2A1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5705D-8D82-4C46-B5C0-BB71D772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TEAM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12ECE-E89D-4F3C-874D-CB8ADA26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AI Roleplay Market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4F229-E6D7-4FF9-92A3-6416E944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Category structure, key competitors, funding posture, table-stakes features, and our best entry wedge.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4B3C0-724C-4C5A-B881-BC34E389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91A5E-DEFA-41D0-BC20-0EB17589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AI chat is not the product. Rehearsal infrastructure is.</a:t>
            </a:r>
          </a:p>
        </p:txBody>
      </p:sp>
    </p:spTree>
    <p:extLst>
      <p:ext uri="{BB962C8B-B14F-4D97-AF65-F5344CB8AC3E}">
        <p14:creationId xmlns:p14="http://schemas.microsoft.com/office/powerpoint/2010/main" val="565308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fc829c0964af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19F66-0A2C-4C6E-BA91-7378E423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1E7E9-3FB7-42A8-8275-C36DDCDE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2A8C4-C949-444B-A8B2-0E94BCA2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02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18572-1FE5-48F0-9739-C2BB8F48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663DD-D1A6-46E9-8FE2-8E6013C2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9F54C-5064-4C48-9B99-9751736E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The category is real, but it is not one 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86561-3768-495F-BEB7-1BC28A05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Competitors cluster around training and readiness. The category is moving from AI chat toward structured rehearsal.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5C7F5-E0A7-496F-9979-24A55602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B0836-2CA7-418F-881F-F5E86564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840A1-E8D8-4EDD-8D32-24CB74B2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69F84-35A8-4830-80A2-C30264F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45501-1FC2-43F8-829E-9BCD160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76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4666A-4388-44A0-831F-52DB7B0B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A6BE0-062C-477A-AD2B-0F15DF6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MARKET SHAPE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84487-D083-4C3A-8D10-1B3F3EA9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Five visible wedges: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enterprise training, revenue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roleplay, interview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rehearsal, education,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emerging group simulation.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0286C-8951-4B8D-AE9C-6FCB3FC2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A73F0-9BF4-4AD1-A098-162FC6C1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0DCAF-D7B1-4557-A562-82239D44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4A8FB-B0FB-47A7-B2B7-9FA6AF54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337D8-BE5B-4223-9431-FADC8BF5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15D34-F256-4CEF-94AA-0FBC0150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914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6280C-1C1D-4C59-9536-F3839B9F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COMMERCIAL CENTER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4DF4E-21C6-4535-9AEB-5B44BE3D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 strongest demand today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sits in training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enablement, where buyers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already own readiness, ramp,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coaching budgets.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B77E5-CE6A-4919-B159-7AF21EF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32092-F242-4F8C-B665-140E8D54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F1ECD-E2DB-452F-AA4F-07137CE2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1C2268-B71B-4CC8-80EC-50B3A4A3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19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FE7482-BE8E-4967-AFD8-3DEC061F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905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3FCD0-D95D-4EE5-B671-CFA63D04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90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514E4-49D6-4AEE-853E-1EB50525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STRATEGIC SHIFT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7D32C-A786-40E9-9241-0C90273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Winners are selling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practice, scoring,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visibility, not generic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conversation quality by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itself.</a:t>
            </a:r>
          </a:p>
        </p:txBody>
      </p:sp>
    </p:spTree>
    <p:extLst>
      <p:ext uri="{BB962C8B-B14F-4D97-AF65-F5344CB8AC3E}">
        <p14:creationId xmlns:p14="http://schemas.microsoft.com/office/powerpoint/2010/main" val="348996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512c669454d3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54E16-EDA4-457C-A978-686932C8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E30C5-E325-43DE-A5AC-602F74CB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COMPETITORS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AD23E-69C3-4F73-A534-60BFF7E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03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6C2B8-1ABD-4737-9DC2-927C0F0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9AB89-C503-4D0A-87D0-77F5F550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05E8C-E1AF-48B4-A0CB-CF24E07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Key competitors cluster into a few practical groups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99D8D-51AA-4B19-9492-306BDE3F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Different companies win through different GTM motions, but the strongest cluster is around revenue and workforce readiness.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61706-048C-4A10-A2AD-5F0F0E0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BE205-40BF-4374-8258-F243EA2E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DBE5E-0BA8-47A2-AECF-5BCCB517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FFF0D-5BD2-42E1-A730-38EE4CEA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E6A50-9613-4386-A334-EB06CCF4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76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EEF64-D753-4159-9A1F-CB1B3FE6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8D3C9-E3B5-4AD4-A95B-A5E12F92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ENTERPRISE L&amp;D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FEA9E-4FA8-49EF-95AF-1FD511F0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Skillsoft CAISY,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DialogueTrainer, Virti,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Mursion package simulation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as workforce training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measurable skill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development.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B2633-F364-4FF5-8B9E-CA3B651D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1396F-D8AB-4632-98E5-43B41FE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98AE1-8973-49BD-A9D6-67C211B2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EC4D0-251E-44A4-8632-DE0195CF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A3544-2368-4C61-A8A0-1126DE5B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65C0E-2C37-4C31-ABD2-DDB1617D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914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B7D84-C78B-45E0-BCAA-5AA77C60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REVENUE ENABLEMENT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EBDE3-A3D3-445B-B7E3-C0D53F4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Second Nature, Simmie,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Yoodli, and RoleLab focus 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sales readiness, onboarding,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objection handling,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certification.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16385-12A1-4498-81C3-870C2AD1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4F99E7-5527-4CE7-897D-1899A414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B42648-D951-4D5B-A053-19D911D1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898A6-BC26-4C3C-87B3-5AD507E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19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AC866-B9D4-40C3-AA72-90D58574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905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02F87-8DFB-474D-AFF4-462718A8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90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569838-6053-46EA-8CE0-F5B6E248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WHERE IT IS HEADING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1B940-34E2-4F8E-8738-43F87FA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Yoodli and Second Nature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already hint at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multi-stakeholder scenarios;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Google DialogLab signals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future of group simulation.</a:t>
            </a:r>
          </a:p>
        </p:txBody>
      </p:sp>
    </p:spTree>
    <p:extLst>
      <p:ext uri="{BB962C8B-B14F-4D97-AF65-F5344CB8AC3E}">
        <p14:creationId xmlns:p14="http://schemas.microsoft.com/office/powerpoint/2010/main" val="233034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de6a634ad406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8DFE9-CCE0-4D1D-BCE5-08B6F4D4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EF9ED-1E95-4405-923A-B26E4A55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FUNDING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9312-91EE-4988-877E-B38DBBA8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04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7ABFD-268B-4392-8945-372B425A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BF22A-237A-41ED-8EB6-1847EDF6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608FE-142F-401D-8409-FE9F8497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Funding signals show a category with both incumbents and room for entrants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4B10B-57AB-4793-8452-689966CD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The market ranges from public-company distribution to well-funded startups to early-stage specialists.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C4B15-30AB-47C9-849E-C6EDC328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BD30B-5BEE-4F28-8F3D-80C71C7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1A621-F550-4FCA-8C17-38E1C8FE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763EF-6BF1-4A88-9D50-9E5CFCF2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0356A-7949-4EF2-990C-B53F756B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76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9EBF4-F9BB-4C34-AC73-3EB3255A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C3BB3-44D5-4BBA-BB10-8BC50593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INCUMBENTS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2A732-3E38-4D6B-985C-A7AF1937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Skillsoft is public (NYSE: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SKIL). Virti and Mursion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show longer-running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venture-backed platform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plays in training.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35F9F-08F2-412A-9EA6-BD6E3A1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10665-B3B6-45AC-A6F0-30FE2CB0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AA885-B53E-435D-A94D-55E6804E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71B01-C877-4948-9E41-7EF47C90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F481E-A527-42E6-A93F-7A9B1DCC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E774D-1C6F-4B64-AC7A-D09CC7AD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914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C973A-7A02-4467-BC20-EDE940F6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SCALE-UP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DD454-FFAE-43CC-BAF7-A4DF81BB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Yoodli stands out with 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reported $40M Series B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valuation above $300M,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proving strong investor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belief in the category.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ED72D-054B-4F82-9124-84DE3754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EB81E-DD03-4B29-A465-40A80BAF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FC04E-24AE-4E40-9AE8-C91A0308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1E0550-8975-4B94-A552-76C46403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19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95B1A-4479-4E69-80C4-992394ED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905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30AE6-E936-4F15-AFB0-B8F9A7AE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90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661BDB-A068-49F9-8261-7AAE109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OPEN SPACE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460295-A063-4308-8F25-C63B908E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Second Nature funding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visibility is partial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Simmie is still early-stage,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which suggests room for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focused entrants.</a:t>
            </a:r>
          </a:p>
        </p:txBody>
      </p:sp>
    </p:spTree>
    <p:extLst>
      <p:ext uri="{BB962C8B-B14F-4D97-AF65-F5344CB8AC3E}">
        <p14:creationId xmlns:p14="http://schemas.microsoft.com/office/powerpoint/2010/main" val="1421876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8c7f4bc204cc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31E22-B648-4FD3-B66F-9BEAFC11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80095-9110-43A8-9369-09AF3EF0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VALUE PROPS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B59C5-50F2-48C6-A846-07A79C3B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05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1EF02-B80A-4574-915E-A0EE8E30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D3921-C679-4DD7-A065-F8758300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0CAAF-B138-4A03-8240-B7D29D99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Customers buy readiness, not AI 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78AAE-7882-419A-B16E-7180C023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The strongest value propositions repeat across competitors and explain why teams actually pay for these products.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3C128-61BB-4FD1-BDE0-DA5F8984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95B7C-57F3-4B9C-A492-7E360AAD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A18F8-1B63-4CBF-812A-2F6C9E3C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61BB1-ACD9-4A25-B507-FE383127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2630A-FC01-41A9-A2A7-6B7B07A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76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CEBFB-D220-4063-BD67-972968C0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57248-E6B8-4887-8191-5C6DD63A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PRACTICE AT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6681D-11B5-4CA7-952F-65069106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Replace inconsistent mock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sessions with repeatable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reps that do not consume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more manager or trainer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B0A03-2B5A-4FBD-B37E-6D279DD7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7658B-5641-4BBA-850E-2FFC28D3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8BC92-27D0-42B9-AAC2-9A6EB25B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04215-AD35-4532-918F-6B41690F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50156-BA66-45F8-B23E-0A80788A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86507-5BF9-4E31-84E5-EBD269F3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914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01939-E2E7-4D32-A93C-B767C230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READINESS AND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FC8F6-0540-4580-BCB7-C0879786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Buyers want scores,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certification, and evidence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that someone is ready before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they go live with customers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or employees.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BB0C7-AAFA-486D-BF9E-96955D1C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749EF-3D36-4BA0-BDCE-80CA01C2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5C703-927A-412F-BDFA-681B57CE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75A86-E257-4C33-8624-E91FE266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19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730CD-B5A3-40B4-96D9-A5CC49FC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905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35C3D1-70E0-4586-AD9A-8D36E82A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90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903455-4F6F-4D43-ABA4-F12894F0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COMPANY-SPECIFIC REALISM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2D1D5B-491B-4741-93C1-014E3AAE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Playbooks, call transcripts,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custom personas make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simulations feel operational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instead of generic.</a:t>
            </a:r>
          </a:p>
        </p:txBody>
      </p:sp>
    </p:spTree>
    <p:extLst>
      <p:ext uri="{BB962C8B-B14F-4D97-AF65-F5344CB8AC3E}">
        <p14:creationId xmlns:p14="http://schemas.microsoft.com/office/powerpoint/2010/main" val="1404394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da81c384547d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02F04-5080-4812-8FED-0AC0F5C3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5EEA3-2128-4900-85E8-733BA588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98ADA-4A9F-4879-B3AC-F4EAFC4C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06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60A62-7EBF-4A21-A5C1-8D421EB7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BCD11-D2C1-43CF-954F-200DB17D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6E63D-2258-4EE7-BDB1-CA55DD5A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Table stakes are now 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C68B7-754F-4474-9150-8BF3D691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We do not need every feature in the market, but we do need the core stack that makes roleplay operationally credible.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EDEE3-EEEF-4C8B-9E18-BC7DA8F6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3D50C-7F4A-48E0-A0C9-503D1F2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C1C9A-1DAE-4E2E-B53B-CBD437F4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4888F-30CC-42DC-8CC5-39A6CBDC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35210-4848-47B4-9D3C-9E6308BD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76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BB33A-3FA7-4339-A647-8D9096CD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5DB8A-4D2A-43AD-A65E-9B7F8F5C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CORE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AD272-55C5-44A2-806E-88C27584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Scenario builder, persona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builder, and live voice 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voice plus text simulation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are the minimum believable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practice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88A8C-DA25-482C-BAAD-BDA6BFF2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12F1D-2F50-48E9-A936-D3FD6DD8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8B9C5-1C8B-41E8-8EA2-AF31F86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A8096-321B-4F48-9A69-26EF8D0F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FD1C1-263E-485D-B858-503E4FC4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8C049-F0E9-4A70-BA12-E84CA443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914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1BD1D-69A4-47E5-A38C-C5F60FE0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MEASUREMENT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9A098-3158-4797-BC5B-AABBBB9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Rubric scoring, feedback,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transcript or replay,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repeat attempts turn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practice into measurable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improvement.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5B0F0-3A6B-4368-BCC0-A546B5AA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8655B0-1CF3-4CFB-BFDB-2DB8C1D7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B195B-CBFE-4C6E-9EB1-F81D42CC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DD9DBA-BF8F-426B-8437-B1CEDC10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19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EE11C-2B02-49FD-8564-8FD5283F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905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DC410-7E7D-4EFF-A954-D95B746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90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215CE-5440-4118-A083-CFE94705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TEAM INFRASTRUCTURE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687C3-099B-45C6-B4D7-A5637E40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Manager dashboard,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assignment, certification,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integrations make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product deployable inside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real programs.</a:t>
            </a:r>
          </a:p>
        </p:txBody>
      </p:sp>
    </p:spTree>
    <p:extLst>
      <p:ext uri="{BB962C8B-B14F-4D97-AF65-F5344CB8AC3E}">
        <p14:creationId xmlns:p14="http://schemas.microsoft.com/office/powerpoint/2010/main" val="349722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e21e8dd844b1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779E3-2260-48D2-9C40-6E8FA186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77F4B-E063-4E65-9AE0-41D90030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OUR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7343F-8192-4CD6-A7CB-075D335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07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1D85B-1B31-4380-A944-5AB6DBC0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1121F-8899-4B64-90E9-AB40B45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F6E40-A59C-4035-BDA7-456DB11A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Our best entry point is focused readiness first, social complexity second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BFD4B-0D75-4708-B03B-51E0956C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Enter where ROI is clearest, then differentiate where one-on-one roleplay starts to break down.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17F31-142C-4986-B6FE-2FC1B87B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82CA0-D404-4E95-836D-5A86006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5DE14-0757-45A7-99F8-F331A2DD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3DF45-8B10-4090-A6E1-6F315C6F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C9C31-92C1-495B-B02C-B947F38F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766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87DCF-0AD4-4CEB-BAC3-5861CD2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B2797-EED5-48E0-8D29-DC9D2CCD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FIRST WEDGE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C5FB8-F1E4-48C5-949E-E0A00234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Start with sales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customer-facing onboarding,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objection handling,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certification. The ROI story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is clearest there.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C8774-19A5-482F-9F27-2863ADB8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57C44-D1F2-42FF-AB4F-8AB211A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AF1AB-4511-44F4-B0CA-6F1D848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2827A-B622-4EC2-8EDD-34CCB697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D449C-4250-4F60-9BEF-7FE4B99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86FD1-88A6-4C1A-9789-6A174328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9147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856FE-DD59-458A-8C56-35ED450B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FUTURE WEDGE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91E26-7FB6-425D-B5A4-297388E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Use multi-NPC scenarios as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 premium differentiator: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buying committees, panel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interviews,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multi-stakeholder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conversations.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55F92-B3C1-47BC-9EB3-05DF1671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E5B43-0794-4E76-B23C-5E394500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480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833FC5-DEAD-46FD-84CA-3A3F3200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0FF69-5647-470F-BDDB-AFE99715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195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1540D2-ABDE-4A8C-9E13-F51BFFD8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9052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0A4A9-B494-4A10-8D88-CC25E522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909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AC153-7209-47D5-BFB5-CCC12BE7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576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PRODUCT THESIS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B4C661-31C0-4E64-8F85-FE312F6F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6720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Enter with readiness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infrastructure. Win later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with orchestration, group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dynamics, and room-level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coaching.</a:t>
            </a:r>
          </a:p>
        </p:txBody>
      </p:sp>
    </p:spTree>
    <p:extLst>
      <p:ext uri="{BB962C8B-B14F-4D97-AF65-F5344CB8AC3E}">
        <p14:creationId xmlns:p14="http://schemas.microsoft.com/office/powerpoint/2010/main" val="299288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2026-05-19T11:59:01.4990000Z</dcterms:created>
  <dcterms:modified xsi:type="dcterms:W3CDTF">2026-05-19T11:59:01.4990000Z</dcterms:modified>
</coreProperties>
</file>